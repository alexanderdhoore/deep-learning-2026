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</p:sldIdLst>
  <p:sldSz cx="12192000" cy="6858000"/>
  <p:notesSz cx="6858000" cy="9144000"/>
  <p:defaultTextStyle>
    <a:defPPr>
      <a:defRPr lang="en-B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C80"/>
    <a:srgbClr val="FFCCCC"/>
    <a:srgbClr val="0563C1"/>
    <a:srgbClr val="6AA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859"/>
    <p:restoredTop sz="94660"/>
  </p:normalViewPr>
  <p:slideViewPr>
    <p:cSldViewPr snapToGrid="0">
      <p:cViewPr varScale="1">
        <p:scale>
          <a:sx d="100" n="83"/>
          <a:sy d="100" n="83"/>
        </p:scale>
        <p:origin x="600" y="67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7" Type="http://schemas.openxmlformats.org/officeDocument/2006/relationships/viewProps" Target="viewProps.xml" /><Relationship Id="rId3" Type="http://schemas.openxmlformats.org/officeDocument/2006/relationships/customXml" Target="../customXml/item3.xml" /><Relationship Id="rId36" Type="http://schemas.openxmlformats.org/officeDocument/2006/relationships/presProps" Target="presProps.xml" /><Relationship Id="rId41" Type="http://schemas.microsoft.com/office/2015/10/relationships/revisionInfo" Target="revisionInfo.xml" /><Relationship Id="rId2" Type="http://schemas.openxmlformats.org/officeDocument/2006/relationships/customXml" Target="../customXml/item2.xml" /><Relationship Id="rId1" Type="http://schemas.openxmlformats.org/officeDocument/2006/relationships/customXml" Target="../customXml/item1.xml" /><Relationship Id="rId40" Type="http://schemas.microsoft.com/office/2016/11/relationships/changesInfo" Target="changesInfos/changesInfo1.xml" /><Relationship Id="rId39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2901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jdelijke aanduiding voor tekst 784">
            <a:extLst>
              <a:ext uri="{FF2B5EF4-FFF2-40B4-BE49-F238E27FC236}">
                <a16:creationId xmlns:a16="http://schemas.microsoft.com/office/drawing/2014/main" id="{D5F3149F-9ED1-9034-D500-737E6DBBE3B2}"/>
              </a:ext>
            </a:extLst>
          </p:cNvPr>
          <p:cNvSpPr txBox="1">
            <a:spLocks/>
          </p:cNvSpPr>
          <p:nvPr userDrawn="1"/>
        </p:nvSpPr>
        <p:spPr>
          <a:xfrm>
            <a:off x="138631" y="4157180"/>
            <a:ext cx="257369" cy="1906003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VLAIO TETRA MLOps4ECM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ijdelijke aanduiding voor dianummer 5">
            <a:extLst>
              <a:ext uri="{FF2B5EF4-FFF2-40B4-BE49-F238E27FC236}">
                <a16:creationId xmlns:a16="http://schemas.microsoft.com/office/drawing/2014/main" id="{51E2B4CD-705E-E28A-043D-E3D4141B0EA5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3939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7" y="363600"/>
            <a:ext cx="10515600" cy="1324800"/>
          </a:xfrm>
        </p:spPr>
        <p:txBody>
          <a:bodyPr anchor="ctr" anchorCtr="0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E0C14-FF0F-5E43-2DC6-9C547A6489F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559999" y="2822714"/>
            <a:ext cx="4397835" cy="3806859"/>
          </a:xfrm>
        </p:spPr>
        <p:txBody>
          <a:bodyPr anchor="ctr" anchorCtr="1"/>
          <a:lstStyle>
            <a:lvl1pPr marL="0" indent="0">
              <a:buNone/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 err="1"/>
              <a:t>Afbeelding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1825200"/>
            <a:ext cx="10515600" cy="5032800"/>
          </a:xfrm>
        </p:spPr>
        <p:txBody>
          <a:bodyPr>
            <a:normAutofit/>
          </a:bodyPr>
          <a:lstStyle>
            <a:lvl1pPr marL="230400" indent="-230400">
              <a:buFont typeface="Arial" panose="020B0604020202020204" pitchFamily="34" charset="0"/>
              <a:buChar char="•"/>
              <a:defRPr sz="2800"/>
            </a:lvl1pPr>
            <a:lvl2pPr marL="687600" indent="-230400">
              <a:buFont typeface="Arial" panose="020B0604020202020204" pitchFamily="34" charset="0"/>
              <a:buChar char="•"/>
              <a:defRPr sz="2400"/>
            </a:lvl2pPr>
            <a:lvl3pPr marL="1144800" indent="-230400">
              <a:buFont typeface="Arial" panose="020B0604020202020204" pitchFamily="34" charset="0"/>
              <a:buChar char="•"/>
              <a:defRPr sz="2000"/>
            </a:lvl3pPr>
            <a:lvl4pPr marL="1602000" indent="-230400">
              <a:buFont typeface="Arial" panose="020B0604020202020204" pitchFamily="34" charset="0"/>
              <a:buChar char="•"/>
              <a:defRPr sz="1800"/>
            </a:lvl4pPr>
            <a:lvl5pPr marL="2059200" indent="-230400">
              <a:buFont typeface="Arial" panose="020B0604020202020204" pitchFamily="34" charset="0"/>
              <a:buChar char="•"/>
              <a:defRPr sz="18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970307B0-73D9-D11C-316B-6777ECF0D2BA}"/>
              </a:ext>
            </a:extLst>
          </p:cNvPr>
          <p:cNvSpPr txBox="1">
            <a:spLocks/>
          </p:cNvSpPr>
          <p:nvPr userDrawn="1"/>
        </p:nvSpPr>
        <p:spPr>
          <a:xfrm>
            <a:off x="138631" y="4157180"/>
            <a:ext cx="257369" cy="1906003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VLAIO TETRA MLOps4ECM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73DBB08-0195-B986-BE61-A9537252B094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490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9DDB12-491F-5BB2-A956-E33E13261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6411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D76CE-B6CF-200E-B406-2A826BBC0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9E1-C68F-9856-C448-E83CE4375B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ACA9-74B9-A532-BD00-E94CB593C4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5B848402-9A35-C374-0779-75E6DAE09B1B}"/>
              </a:ext>
            </a:extLst>
          </p:cNvPr>
          <p:cNvSpPr txBox="1">
            <a:spLocks/>
          </p:cNvSpPr>
          <p:nvPr userDrawn="1"/>
        </p:nvSpPr>
        <p:spPr>
          <a:xfrm>
            <a:off x="138631" y="4157180"/>
            <a:ext cx="257369" cy="1906003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VLAIO TETRA MLOps4ECM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1D286DB-9732-00B8-1372-2180A0F03909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0453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68494-3F5B-A1D0-0A02-45F1C4957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26EFF-9A9E-19C0-7132-C3B58885C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5C4E49-4C5B-03A2-9E36-F0E474C67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2A5467-CD6D-2A35-FDAD-C9036280C5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168C4-8D7F-60F0-6D0E-C6AF10342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jdelijke aanduiding voor tekst 784">
            <a:extLst>
              <a:ext uri="{FF2B5EF4-FFF2-40B4-BE49-F238E27FC236}">
                <a16:creationId xmlns:a16="http://schemas.microsoft.com/office/drawing/2014/main" id="{09C61AD4-E22B-5483-A410-EB512374EAAC}"/>
              </a:ext>
            </a:extLst>
          </p:cNvPr>
          <p:cNvSpPr txBox="1">
            <a:spLocks/>
          </p:cNvSpPr>
          <p:nvPr userDrawn="1"/>
        </p:nvSpPr>
        <p:spPr>
          <a:xfrm>
            <a:off x="138631" y="4157180"/>
            <a:ext cx="257369" cy="1906003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VLAIO TETRA MLOps4ECM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256193B6-1431-5F48-9875-C3361455ACD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1725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784">
            <a:extLst>
              <a:ext uri="{FF2B5EF4-FFF2-40B4-BE49-F238E27FC236}">
                <a16:creationId xmlns:a16="http://schemas.microsoft.com/office/drawing/2014/main" id="{79CD12EE-C134-F278-2980-F9DD3F86D6BB}"/>
              </a:ext>
            </a:extLst>
          </p:cNvPr>
          <p:cNvSpPr txBox="1">
            <a:spLocks/>
          </p:cNvSpPr>
          <p:nvPr userDrawn="1"/>
        </p:nvSpPr>
        <p:spPr>
          <a:xfrm>
            <a:off x="138631" y="4157180"/>
            <a:ext cx="257369" cy="1906003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VLAIO TETRA MLOps4ECM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33B0AF44-CC27-05A6-79EA-DA747A996CB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0730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media/image4.png" Type="http://schemas.openxmlformats.org/officeDocument/2006/relationships/imag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media/image3.png" Type="http://schemas.openxmlformats.org/officeDocument/2006/relationships/image" /><Relationship Id="rId5" Target="../slideLayouts/slideLayout5.xml" Type="http://schemas.openxmlformats.org/officeDocument/2006/relationships/slideLayout" /><Relationship Id="rId10" Target="../media/image2.svg" Type="http://schemas.openxmlformats.org/officeDocument/2006/relationships/image" /><Relationship Id="rId4" Target="../slideLayouts/slideLayout4.xml" Type="http://schemas.openxmlformats.org/officeDocument/2006/relationships/slideLayout" /><Relationship Id="rId9" Target="../media/image1.png" Type="http://schemas.openxmlformats.org/officeDocument/2006/relationships/imag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8329E0-B3CA-8E19-BC3B-715665FAF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8CA2F-F634-E1A9-CED8-8DDF6111C544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4"/>
            <a:ext cx="10515600" cy="5032375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9921E047-E6D9-B995-3435-56287CF518FB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4050" y="0"/>
            <a:ext cx="400050" cy="1981200"/>
          </a:xfrm>
          <a:prstGeom prst="rect">
            <a:avLst/>
          </a:prstGeom>
        </p:spPr>
      </p:pic>
      <p:pic>
        <p:nvPicPr>
          <p:cNvPr id="4" name="Picture 6">
            <a:extLst>
              <a:ext uri="{FF2B5EF4-FFF2-40B4-BE49-F238E27FC236}">
                <a16:creationId xmlns:a16="http://schemas.microsoft.com/office/drawing/2014/main" id="{D6C89B78-77C7-B736-B81F-26DB8983FC3D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10720227" y="108088"/>
            <a:ext cx="1294591" cy="467266"/>
          </a:xfrm>
          <a:prstGeom prst="rect">
            <a:avLst/>
          </a:prstGeom>
        </p:spPr>
      </p:pic>
      <p:pic>
        <p:nvPicPr>
          <p:cNvPr descr="Text, logo  Description automatically generated" id="6" name="Picture 8">
            <a:extLst>
              <a:ext uri="{FF2B5EF4-FFF2-40B4-BE49-F238E27FC236}">
                <a16:creationId xmlns:a16="http://schemas.microsoft.com/office/drawing/2014/main" id="{900B9CDA-58D9-66C6-71FA-EB0940BC1D98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5805" y="108089"/>
            <a:ext cx="1308347" cy="4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17608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6" r:id="rId3"/>
    <p:sldLayoutId id="2147483651" r:id="rId4"/>
    <p:sldLayoutId id="2147483652" r:id="rId5"/>
    <p:sldLayoutId id="2147483653" r:id="rId6"/>
    <p:sldLayoutId id="2147483655" r:id="rId7"/>
  </p:sldLayoutIdLst>
  <p:hf hdr="0"/>
  <p:txStyles>
    <p:titleStyle>
      <a:lvl1pPr algn="l" defTabSz="914377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377" eaLnBrk="1" hangingPunct="1" indent="-228594" latinLnBrk="0" marL="228594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indent="-228594" latinLnBrk="0" marL="68578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indent="-228594" latinLnBrk="0" marL="1142971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indent="-228594" latinLnBrk="0" marL="160016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indent="-228594" latinLnBrk="0" marL="2057349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indent="-228594" latinLnBrk="0" marL="2514537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indent="-228594" latinLnBrk="0" marL="2971726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indent="-228594" latinLnBrk="0" marL="3428914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indent="-228594" latinLnBrk="0" marL="388610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algn="l" defTabSz="914377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latinLnBrk="0" marL="45718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latinLnBrk="0" marL="914377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latinLnBrk="0" marL="1371566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latinLnBrk="0" marL="1828754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latinLnBrk="0" marL="2285943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latinLnBrk="0" marL="2743131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latinLnBrk="0" marL="320032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latinLnBrk="0" marL="365750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6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9.jp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10.jp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Deep Learning 2026: Project Paths, Frameworks, and Directions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Alexander D’hoore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 to Deep Learning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Goal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In this short introduction, I want to give you a </a:t>
            </a:r>
            <a:r>
              <a:rPr b="1"/>
              <a:t>map of the field</a:t>
            </a:r>
            <a:r>
              <a:rPr/>
              <a:t>.</a:t>
            </a:r>
          </a:p>
          <a:p>
            <a:pPr lvl="0"/>
            <a:r>
              <a:rPr/>
              <a:t>Not deep theory, but a practical overview of what kinds of deep-learning systems you could build.</a:t>
            </a:r>
          </a:p>
          <a:p>
            <a:pPr lvl="0"/>
            <a:r>
              <a:rPr/>
              <a:t>The main goal today:</a:t>
            </a:r>
          </a:p>
          <a:p>
            <a:pPr lvl="1"/>
            <a:r>
              <a:rPr/>
              <a:t>choose a technical path</a:t>
            </a:r>
          </a:p>
          <a:p>
            <a:pPr lvl="1"/>
            <a:r>
              <a:rPr/>
              <a:t>choose a framework stack</a:t>
            </a:r>
          </a:p>
          <a:p>
            <a:pPr lvl="1"/>
            <a:r>
              <a:rPr/>
              <a:t>start shaping your own project</a:t>
            </a:r>
          </a:p>
        </p:txBody>
      </p:sp>
      <p:pic>
        <p:nvPicPr>
          <p:cNvPr descr="media/generative-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48600" y="28194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This Part of the Course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is short:</a:t>
            </a:r>
          </a:p>
          <a:p>
            <a:pPr lvl="1"/>
            <a:r>
              <a:rPr/>
              <a:t>4 lessons of 4 hours</a:t>
            </a:r>
          </a:p>
          <a:p>
            <a:pPr lvl="1"/>
            <a:r>
              <a:rPr/>
              <a:t>plus the exam</a:t>
            </a:r>
          </a:p>
          <a:p>
            <a:pPr lvl="0"/>
            <a:r>
              <a:rPr/>
              <a:t>The first lesson already introduced you to practical generative AI.</a:t>
            </a:r>
          </a:p>
          <a:p>
            <a:pPr lvl="0"/>
            <a:r>
              <a:rPr/>
              <a:t>The remaining lessons are mainly for building your own project.</a:t>
            </a:r>
          </a:p>
          <a:p>
            <a:pPr lvl="0"/>
            <a:r>
              <a:rPr/>
              <a:t>So today is about </a:t>
            </a:r>
            <a:r>
              <a:rPr b="1"/>
              <a:t>choosing a good direction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You Will Be Evaluated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build a </a:t>
            </a:r>
            <a:r>
              <a:rPr b="1"/>
              <a:t>unique AI application or prototype</a:t>
            </a:r>
            <a:r>
              <a:rPr/>
              <a:t>.</a:t>
            </a:r>
          </a:p>
          <a:p>
            <a:pPr lvl="0"/>
            <a:r>
              <a:rPr/>
              <a:t>At the exam, you will:</a:t>
            </a:r>
          </a:p>
          <a:p>
            <a:pPr lvl="1"/>
            <a:r>
              <a:rPr/>
              <a:t>present what you built</a:t>
            </a:r>
          </a:p>
          <a:p>
            <a:pPr lvl="1"/>
            <a:r>
              <a:rPr/>
              <a:t>explain your design choices</a:t>
            </a:r>
          </a:p>
          <a:p>
            <a:pPr lvl="1"/>
            <a:r>
              <a:rPr/>
              <a:t>defend your code and architecture</a:t>
            </a:r>
          </a:p>
          <a:p>
            <a:pPr lvl="0"/>
            <a:r>
              <a:rPr/>
              <a:t>You may use AI tools while building.</a:t>
            </a:r>
          </a:p>
          <a:p>
            <a:pPr lvl="0"/>
            <a:r>
              <a:rPr/>
              <a:t>But during the exam, </a:t>
            </a:r>
            <a:r>
              <a:rPr b="1"/>
              <a:t>you</a:t>
            </a:r>
            <a:r>
              <a:rPr/>
              <a:t> must understand what your system does.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Choose a Project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Choose a Technical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Before choosing an application, it is often easier to choose a </a:t>
            </a:r>
            <a:r>
              <a:rPr b="1"/>
              <a:t>technical path</a:t>
            </a:r>
            <a:r>
              <a:rPr/>
              <a:t>.</a:t>
            </a:r>
          </a:p>
          <a:p>
            <a:pPr lvl="0"/>
            <a:r>
              <a:rPr/>
              <a:t>In this course, the main paths are:</a:t>
            </a:r>
          </a:p>
          <a:p>
            <a:pPr lvl="1"/>
            <a:r>
              <a:rPr/>
              <a:t>train or retrain your own model</a:t>
            </a:r>
          </a:p>
          <a:p>
            <a:pPr lvl="1"/>
            <a:r>
              <a:rPr/>
              <a:t>build with pretrained foundation models</a:t>
            </a:r>
          </a:p>
          <a:p>
            <a:pPr lvl="1"/>
            <a:r>
              <a:rPr/>
              <a:t>adapt / fine-tune large pretrained models</a:t>
            </a:r>
          </a:p>
          <a:p>
            <a:pPr lvl="1"/>
            <a:r>
              <a:rPr/>
              <a:t>reinforcement learning</a:t>
            </a:r>
          </a:p>
          <a:p>
            <a:pPr lvl="1"/>
            <a:r>
              <a:rPr/>
              <a:t>edge AI and deployment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Choose an Application Direction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After that, choose the domain where you want to apply that path.</a:t>
            </a:r>
          </a:p>
          <a:p>
            <a:pPr lvl="0"/>
            <a:r>
              <a:rPr/>
              <a:t>Good directions include:</a:t>
            </a:r>
          </a:p>
          <a:p>
            <a:pPr lvl="1"/>
            <a:r>
              <a:rPr/>
              <a:t>computer vision</a:t>
            </a:r>
          </a:p>
          <a:p>
            <a:pPr lvl="1"/>
            <a:r>
              <a:rPr/>
              <a:t>text / LLM apps</a:t>
            </a:r>
          </a:p>
          <a:p>
            <a:pPr lvl="1"/>
            <a:r>
              <a:rPr/>
              <a:t>speech and audio</a:t>
            </a:r>
          </a:p>
          <a:p>
            <a:pPr lvl="1"/>
            <a:r>
              <a:rPr/>
              <a:t>multimodal and document AI</a:t>
            </a:r>
          </a:p>
          <a:p>
            <a:pPr lvl="1"/>
            <a:r>
              <a:rPr/>
              <a:t>time-series and sensor signals</a:t>
            </a:r>
          </a:p>
          <a:p>
            <a:pPr lvl="1"/>
            <a:r>
              <a:rPr/>
              <a:t>semantic search / retrieval / recommendation</a:t>
            </a:r>
          </a:p>
          <a:p>
            <a:pPr lvl="1"/>
            <a:r>
              <a:rPr/>
              <a:t>reinforcement learning</a:t>
            </a:r>
          </a:p>
          <a:p>
            <a:pPr lvl="1"/>
            <a:r>
              <a:rPr/>
              <a:t>edge deployment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Input -&gt; AI model -&gt; useful output -&gt; interface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image -&gt; detector -&gt; labels and boxes -&gt; web app</a:t>
            </a:r>
          </a:p>
          <a:p>
            <a:pPr lvl="0"/>
            <a:r>
              <a:rPr/>
              <a:t>user question + documents -&gt; retrieval + LLM -&gt; answer -&gt; chat UI</a:t>
            </a:r>
          </a:p>
          <a:p>
            <a:pPr lvl="0"/>
            <a:r>
              <a:rPr/>
              <a:t>speech -&gt; transcription -&gt; summary -&gt; web app</a:t>
            </a:r>
          </a:p>
          <a:p>
            <a:pPr lvl="0"/>
            <a:r>
              <a:rPr/>
              <a:t>sensor data -&gt; anomaly detector -&gt; warning -&gt; dashboard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Pick something interesting, but also feasible.</a:t>
            </a:r>
          </a:p>
          <a:p>
            <a:pPr lvl="0"/>
            <a:r>
              <a:rPr/>
              <a:t>A good project usually has:</a:t>
            </a:r>
          </a:p>
          <a:p>
            <a:pPr lvl="1"/>
            <a:r>
              <a:rPr/>
              <a:t>one clear problem</a:t>
            </a:r>
          </a:p>
          <a:p>
            <a:pPr lvl="1"/>
            <a:r>
              <a:rPr/>
              <a:t>one main framework</a:t>
            </a:r>
          </a:p>
          <a:p>
            <a:pPr lvl="1"/>
            <a:r>
              <a:rPr/>
              <a:t>one demoable result</a:t>
            </a:r>
          </a:p>
          <a:p>
            <a:pPr lvl="0"/>
            <a:r>
              <a:rPr/>
              <a:t>Avoid choosing:</a:t>
            </a:r>
          </a:p>
          <a:p>
            <a:pPr lvl="1"/>
            <a:r>
              <a:rPr/>
              <a:t>the hardest model training path</a:t>
            </a:r>
          </a:p>
          <a:p>
            <a:pPr lvl="1"/>
            <a:r>
              <a:rPr/>
              <a:t>and the hardest deployment path</a:t>
            </a:r>
          </a:p>
          <a:p>
            <a:pPr lvl="1"/>
            <a:r>
              <a:rPr/>
              <a:t>at the same time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Paths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Train or Retrain Your Own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classical deep-learning workflow:</a:t>
            </a:r>
          </a:p>
          <a:p>
            <a:pPr lvl="1"/>
            <a:r>
              <a:rPr/>
              <a:t>dataset</a:t>
            </a:r>
          </a:p>
          <a:p>
            <a:pPr lvl="1"/>
            <a:r>
              <a:rPr/>
              <a:t>model</a:t>
            </a:r>
          </a:p>
          <a:p>
            <a:pPr lvl="1"/>
            <a:r>
              <a:rPr/>
              <a:t>training</a:t>
            </a:r>
          </a:p>
          <a:p>
            <a:pPr lvl="1"/>
            <a:r>
              <a:rPr/>
              <a:t>evaluation</a:t>
            </a:r>
          </a:p>
          <a:p>
            <a:pPr lvl="1"/>
            <a:r>
              <a:rPr/>
              <a:t>deployment</a:t>
            </a:r>
          </a:p>
          <a:p>
            <a:pPr lvl="0"/>
            <a:r>
              <a:rPr/>
              <a:t>Important:</a:t>
            </a:r>
          </a:p>
          <a:p>
            <a:pPr lvl="1"/>
            <a:r>
              <a:rPr/>
              <a:t>this can still start from a pretrained model</a:t>
            </a:r>
          </a:p>
          <a:p>
            <a:pPr lvl="1"/>
            <a:r>
              <a:rPr/>
              <a:t>for example MobileNet, YOLO, or another pretrained model</a:t>
            </a:r>
          </a:p>
          <a:p>
            <a:pPr lvl="1"/>
            <a:r>
              <a:rPr/>
              <a:t>then you continue training it on your own data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torchvision / torchaudio</a:t>
            </a:r>
          </a:p>
          <a:p>
            <a:pPr lvl="1"/>
            <a:r>
              <a:rPr/>
              <a:t>YOLO</a:t>
            </a:r>
          </a:p>
          <a:p>
            <a:pPr lvl="1"/>
            <a:r>
              <a:rPr/>
              <a:t>RF-DETR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Build With Pretrained Foundation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Here the main work is </a:t>
            </a:r>
            <a:r>
              <a:rPr b="1"/>
              <a:t>building around a model</a:t>
            </a:r>
            <a:r>
              <a:rPr/>
              <a:t>, not training it from scratch.</a:t>
            </a:r>
          </a:p>
          <a:p>
            <a:pPr lvl="0"/>
            <a:r>
              <a:rPr/>
              <a:t>This is how many modern AI applications are made.</a:t>
            </a:r>
          </a:p>
          <a:p>
            <a:pPr lvl="0"/>
            <a:r>
              <a:rPr/>
              <a:t>Good examples:</a:t>
            </a:r>
          </a:p>
          <a:p>
            <a:pPr lvl="1"/>
            <a:r>
              <a:rPr/>
              <a:t>chatbot</a:t>
            </a:r>
          </a:p>
          <a:p>
            <a:pPr lvl="1"/>
            <a:r>
              <a:rPr/>
              <a:t>multimodal assistant</a:t>
            </a:r>
          </a:p>
          <a:p>
            <a:pPr lvl="1"/>
            <a:r>
              <a:rPr/>
              <a:t>speech tool</a:t>
            </a:r>
          </a:p>
          <a:p>
            <a:pPr lvl="1"/>
            <a:r>
              <a:rPr/>
              <a:t>image generator</a:t>
            </a:r>
          </a:p>
          <a:p>
            <a:pPr lvl="1"/>
            <a:r>
              <a:rPr/>
              <a:t>semantic search app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Hugging Face Transformers</a:t>
            </a:r>
          </a:p>
          <a:p>
            <a:pPr lvl="1"/>
            <a:r>
              <a:rPr/>
              <a:t>Diffusers</a:t>
            </a:r>
          </a:p>
          <a:p>
            <a:pPr lvl="1"/>
            <a:r>
              <a:rPr/>
              <a:t>Ollama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Adapt or Fine-Tune Large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 from normal transfer learning on a smaller model.</a:t>
            </a:r>
          </a:p>
          <a:p>
            <a:pPr lvl="0"/>
            <a:r>
              <a:rPr/>
              <a:t>For large foundation models, it is often not practical to retrain everything.</a:t>
            </a:r>
          </a:p>
          <a:p>
            <a:pPr lvl="0"/>
            <a:r>
              <a:rPr/>
              <a:t>Instead, you adapt part of the model using methods such as:</a:t>
            </a:r>
          </a:p>
          <a:p>
            <a:pPr lvl="1"/>
            <a:r>
              <a:rPr/>
              <a:t>LoRA</a:t>
            </a:r>
          </a:p>
          <a:p>
            <a:pPr lvl="1"/>
            <a:r>
              <a:rPr/>
              <a:t>PEFT</a:t>
            </a:r>
          </a:p>
          <a:p>
            <a:pPr lvl="1"/>
            <a:r>
              <a:rPr/>
              <a:t>adapters</a:t>
            </a:r>
          </a:p>
          <a:p>
            <a:pPr lvl="1"/>
            <a:r>
              <a:rPr/>
              <a:t>DreamBooth-style adaptation</a:t>
            </a:r>
          </a:p>
          <a:p>
            <a:pPr lvl="0"/>
            <a:r>
              <a:rPr/>
              <a:t>This path is powerful, but more ambitious.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Path 4: Reinforcement Learning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Reinforcement learning is about learning through:</a:t>
            </a:r>
          </a:p>
          <a:p>
            <a:pPr lvl="1"/>
            <a:r>
              <a:rPr/>
              <a:t>interaction</a:t>
            </a:r>
          </a:p>
          <a:p>
            <a:pPr lvl="1"/>
            <a:r>
              <a:rPr/>
              <a:t>reward</a:t>
            </a:r>
          </a:p>
          <a:p>
            <a:pPr lvl="1"/>
            <a:r>
              <a:rPr/>
              <a:t>trial and error</a:t>
            </a:r>
          </a:p>
          <a:p>
            <a:pPr lvl="0"/>
            <a:r>
              <a:rPr/>
              <a:t>In this course, the most realistic student projects are probably:</a:t>
            </a:r>
          </a:p>
          <a:p>
            <a:pPr lvl="1"/>
            <a:r>
              <a:rPr/>
              <a:t>games</a:t>
            </a:r>
          </a:p>
          <a:p>
            <a:pPr lvl="1"/>
            <a:r>
              <a:rPr/>
              <a:t>simulations</a:t>
            </a:r>
          </a:p>
          <a:p>
            <a:pPr lvl="1"/>
            <a:r>
              <a:rPr/>
              <a:t>simple control tasks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Gymnasium</a:t>
            </a:r>
          </a:p>
          <a:p>
            <a:pPr lvl="1"/>
            <a:r>
              <a:rPr/>
              <a:t>Stable-Baselines3</a:t>
            </a:r>
          </a:p>
          <a:p>
            <a:pPr lvl="1"/>
            <a:r>
              <a:rPr/>
              <a:t>TorchRL</a:t>
            </a:r>
          </a:p>
        </p:txBody>
      </p:sp>
      <p:pic>
        <p:nvPicPr>
          <p:cNvPr descr="media/chaining-ll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48600" y="28194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Path 5: Edge AI and Deployment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Some students may focus less on training and more on </a:t>
            </a:r>
            <a:r>
              <a:rPr b="1"/>
              <a:t>getting AI to run well on real hardware</a:t>
            </a:r>
            <a:r>
              <a:rPr/>
              <a:t>.</a:t>
            </a:r>
          </a:p>
          <a:p>
            <a:pPr lvl="0"/>
            <a:r>
              <a:rPr/>
              <a:t>That is a very valid project path.</a:t>
            </a:r>
          </a:p>
          <a:p>
            <a:pPr lvl="0"/>
            <a:r>
              <a:rPr/>
              <a:t>Good examples:</a:t>
            </a:r>
          </a:p>
          <a:p>
            <a:pPr lvl="1"/>
            <a:r>
              <a:rPr/>
              <a:t>deploy a vision model to an edge device</a:t>
            </a:r>
          </a:p>
          <a:p>
            <a:pPr lvl="1"/>
            <a:r>
              <a:rPr/>
              <a:t>compare runtimes</a:t>
            </a:r>
          </a:p>
          <a:p>
            <a:pPr lvl="1"/>
            <a:r>
              <a:rPr/>
              <a:t>optimize latency</a:t>
            </a:r>
          </a:p>
          <a:p>
            <a:pPr lvl="1"/>
            <a:r>
              <a:rPr/>
              <a:t>deploy a small local LLM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ONNX Runtime</a:t>
            </a:r>
          </a:p>
          <a:p>
            <a:pPr lvl="1"/>
            <a:r>
              <a:rPr/>
              <a:t>Jetson / JetPack / TensorRT</a:t>
            </a:r>
          </a:p>
          <a:p>
            <a:pPr lvl="1"/>
            <a:r>
              <a:rPr/>
              <a:t>Ollama or llama.cpp</a:t>
            </a:r>
          </a:p>
        </p:txBody>
      </p:sp>
      <p:pic>
        <p:nvPicPr>
          <p:cNvPr descr="media/edge-ai-hardware-referenc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56500" y="3251200"/>
            <a:ext cx="43942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Application Directions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Computer 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Probably one of the easiest directions to demo well.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object detection</a:t>
            </a:r>
          </a:p>
          <a:p>
            <a:pPr lvl="1"/>
            <a:r>
              <a:rPr/>
              <a:t>segmentation</a:t>
            </a:r>
          </a:p>
          <a:p>
            <a:pPr lvl="1"/>
            <a:r>
              <a:rPr/>
              <a:t>visual inspection</a:t>
            </a:r>
          </a:p>
          <a:p>
            <a:pPr lvl="0"/>
            <a:r>
              <a:rPr/>
              <a:t>Strong frameworks: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Ultralytics YOLO</a:t>
            </a:r>
          </a:p>
          <a:p>
            <a:pPr lvl="1"/>
            <a:r>
              <a:rPr/>
              <a:t>RF-DETR</a:t>
            </a:r>
          </a:p>
          <a:p>
            <a:pPr lvl="1"/>
            <a:r>
              <a:rPr/>
              <a:t>OpenCV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Models, Chat Systems, and Text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Strong option if you want to build something useful quickly.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chatbot</a:t>
            </a:r>
          </a:p>
          <a:p>
            <a:pPr lvl="1"/>
            <a:r>
              <a:rPr/>
              <a:t>summarization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tool calling</a:t>
            </a:r>
          </a:p>
          <a:p>
            <a:pPr lvl="1"/>
            <a:r>
              <a:rPr/>
              <a:t>text transformation</a:t>
            </a:r>
          </a:p>
          <a:p>
            <a:pPr lvl="0"/>
            <a:r>
              <a:rPr/>
              <a:t>Strong frameworks:</a:t>
            </a:r>
          </a:p>
          <a:p>
            <a:pPr lvl="1"/>
            <a:r>
              <a:rPr/>
              <a:t>Ollama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Multimodal and Document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where language meets images, documents, or audio.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visual question answering</a:t>
            </a:r>
          </a:p>
          <a:p>
            <a:pPr lvl="1"/>
            <a:r>
              <a:rPr/>
              <a:t>document understanding</a:t>
            </a:r>
          </a:p>
          <a:p>
            <a:pPr lvl="1"/>
            <a:r>
              <a:rPr/>
              <a:t>receipt or invoice reading</a:t>
            </a:r>
          </a:p>
          <a:p>
            <a:pPr lvl="1"/>
            <a:r>
              <a:rPr/>
              <a:t>image-aware assistants</a:t>
            </a:r>
          </a:p>
          <a:p>
            <a:pPr lvl="0"/>
            <a:r>
              <a:rPr/>
              <a:t>Strong frameworks: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vision-capable local models</a:t>
            </a:r>
          </a:p>
          <a:p>
            <a:pPr lvl="1"/>
            <a:r>
              <a:rPr/>
              <a:t>document tools such as docTR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Semantic Search, Retrieval, and Recommendation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one of the most practical modern AI directions.</a:t>
            </a:r>
          </a:p>
          <a:p>
            <a:pPr lvl="0"/>
            <a:r>
              <a:rPr/>
              <a:t>It is based on embeddings:</a:t>
            </a:r>
          </a:p>
          <a:p>
            <a:pPr lvl="1"/>
            <a:r>
              <a:rPr/>
              <a:t>represent items as vectors</a:t>
            </a:r>
          </a:p>
          <a:p>
            <a:pPr lvl="1"/>
            <a:r>
              <a:rPr/>
              <a:t>compare them by meaning, not only by exact words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semantic search</a:t>
            </a:r>
          </a:p>
          <a:p>
            <a:pPr lvl="1"/>
            <a:r>
              <a:rPr/>
              <a:t>retrieval-augmented chatbot</a:t>
            </a:r>
          </a:p>
          <a:p>
            <a:pPr lvl="1"/>
            <a:r>
              <a:rPr/>
              <a:t>recommendation app</a:t>
            </a:r>
          </a:p>
          <a:p>
            <a:pPr lvl="1"/>
            <a:r>
              <a:rPr/>
              <a:t>similar-item finder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Speech, Audio, and Time-Series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Good directions if you like signals rather than only text or images.</a:t>
            </a:r>
          </a:p>
          <a:p>
            <a:pPr lvl="0"/>
            <a:r>
              <a:rPr/>
              <a:t>Audio examples:</a:t>
            </a:r>
          </a:p>
          <a:p>
            <a:pPr lvl="1"/>
            <a:r>
              <a:rPr/>
              <a:t>speech-to-text</a:t>
            </a:r>
          </a:p>
          <a:p>
            <a:pPr lvl="1"/>
            <a:r>
              <a:rPr/>
              <a:t>text-to-speech</a:t>
            </a:r>
          </a:p>
          <a:p>
            <a:pPr lvl="1"/>
            <a:r>
              <a:rPr/>
              <a:t>sound classification</a:t>
            </a:r>
          </a:p>
          <a:p>
            <a:pPr lvl="0"/>
            <a:r>
              <a:rPr/>
              <a:t>Time-series examples:</a:t>
            </a:r>
          </a:p>
          <a:p>
            <a:pPr lvl="1"/>
            <a:r>
              <a:rPr/>
              <a:t>anomaly detection</a:t>
            </a:r>
          </a:p>
          <a:p>
            <a:pPr lvl="1"/>
            <a:r>
              <a:rPr/>
              <a:t>forecasting</a:t>
            </a:r>
          </a:p>
          <a:p>
            <a:pPr lvl="1"/>
            <a:r>
              <a:rPr/>
              <a:t>sensor monitoring</a:t>
            </a:r>
          </a:p>
        </p:txBody>
      </p:sp>
      <p:pic>
        <p:nvPicPr>
          <p:cNvPr descr="media/time-series-data-graph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56500" y="3073400"/>
            <a:ext cx="43942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Generative Systems Are Cross-Cutting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Generative AI is important, but it is not one single modality.</a:t>
            </a:r>
          </a:p>
          <a:p>
            <a:pPr lvl="0"/>
            <a:r>
              <a:rPr/>
              <a:t>It can appear in:</a:t>
            </a:r>
          </a:p>
          <a:p>
            <a:pPr lvl="1"/>
            <a:r>
              <a:rPr/>
              <a:t>text generation</a:t>
            </a:r>
          </a:p>
          <a:p>
            <a:pPr lvl="1"/>
            <a:r>
              <a:rPr/>
              <a:t>image generation</a:t>
            </a:r>
          </a:p>
          <a:p>
            <a:pPr lvl="1"/>
            <a:r>
              <a:rPr/>
              <a:t>speech generation</a:t>
            </a:r>
          </a:p>
          <a:p>
            <a:pPr lvl="1"/>
            <a:r>
              <a:rPr/>
              <a:t>music generation</a:t>
            </a:r>
          </a:p>
          <a:p>
            <a:pPr lvl="1"/>
            <a:r>
              <a:rPr/>
              <a:t>multimodal generation</a:t>
            </a:r>
          </a:p>
          <a:p>
            <a:pPr lvl="0"/>
            <a:r>
              <a:rPr/>
              <a:t>So instead of treating it as one separate box, think of it as a </a:t>
            </a:r>
            <a:r>
              <a:rPr b="1"/>
              <a:t>style of model behavior</a:t>
            </a:r>
            <a:r>
              <a:rPr/>
              <a:t> across several domains.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 Suggestions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AI Frameworks Worth Exploring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PyTorch</a:t>
            </a:r>
          </a:p>
          <a:p>
            <a:pPr lvl="1"/>
            <a:r>
              <a:rPr/>
              <a:t>best for direct training or retraining</a:t>
            </a:r>
          </a:p>
          <a:p>
            <a:pPr lvl="0"/>
            <a:r>
              <a:rPr b="1"/>
              <a:t>Transformers</a:t>
            </a:r>
          </a:p>
          <a:p>
            <a:pPr lvl="1"/>
            <a:r>
              <a:rPr/>
              <a:t>best for pretrained language, multimodal, and speech models</a:t>
            </a:r>
          </a:p>
          <a:p>
            <a:pPr lvl="0"/>
            <a:r>
              <a:rPr b="1"/>
              <a:t>Diffusers</a:t>
            </a:r>
          </a:p>
          <a:p>
            <a:pPr lvl="1"/>
            <a:r>
              <a:rPr/>
              <a:t>best for image generation and related workflows</a:t>
            </a:r>
          </a:p>
          <a:p>
            <a:pPr lvl="0"/>
            <a:r>
              <a:rPr b="1"/>
              <a:t>Sentence Transformers</a:t>
            </a:r>
          </a:p>
          <a:p>
            <a:pPr lvl="1"/>
            <a:r>
              <a:rPr/>
              <a:t>best for embeddings, retrieval, and recommendation</a:t>
            </a:r>
          </a:p>
          <a:p>
            <a:pPr lvl="0"/>
            <a:r>
              <a:rPr b="1"/>
              <a:t>Stable-Baselines3</a:t>
            </a:r>
          </a:p>
          <a:p>
            <a:pPr lvl="1"/>
            <a:r>
              <a:rPr/>
              <a:t>easiest RL starting point</a:t>
            </a:r>
          </a:p>
          <a:p>
            <a:pPr lvl="0"/>
            <a:r>
              <a:rPr b="1"/>
              <a:t>ONNX Runtime</a:t>
            </a:r>
          </a:p>
          <a:p>
            <a:pPr lvl="1"/>
            <a:r>
              <a:rPr/>
              <a:t>strong deployment path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Supporting Tools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These are useful, but they are not the main AI choice:</a:t>
            </a:r>
          </a:p>
          <a:p>
            <a:pPr lvl="1"/>
            <a:r>
              <a:rPr/>
              <a:t>Gradio</a:t>
            </a:r>
          </a:p>
          <a:p>
            <a:pPr lvl="1"/>
            <a:r>
              <a:rPr/>
              <a:t>Streamlit</a:t>
            </a:r>
          </a:p>
          <a:p>
            <a:pPr lvl="1"/>
            <a:r>
              <a:rPr/>
              <a:t>FastAPI</a:t>
            </a:r>
          </a:p>
          <a:p>
            <a:pPr lvl="0"/>
            <a:r>
              <a:rPr/>
              <a:t>Most of you will probably build some kind of interface.</a:t>
            </a:r>
          </a:p>
          <a:p>
            <a:pPr lvl="0"/>
            <a:r>
              <a:rPr/>
              <a:t>Gradio is a very good default if you want to move fast.</a:t>
            </a:r>
          </a:p>
        </p:txBody>
      </p:sp>
      <p:pic>
        <p:nvPicPr>
          <p:cNvPr descr="media/frontend-user-interfac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56500" y="3251200"/>
            <a:ext cx="43942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Recommendation If You Are Unsure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one of these:</a:t>
            </a:r>
          </a:p>
          <a:p>
            <a:pPr lvl="0"/>
            <a:r>
              <a:rPr/>
              <a:t>a computer vision app with YOLO or RF-DETR</a:t>
            </a:r>
          </a:p>
          <a:p>
            <a:pPr lvl="0"/>
            <a:r>
              <a:rPr/>
              <a:t>an LLM app with Ollama or Transformers</a:t>
            </a:r>
          </a:p>
          <a:p>
            <a:pPr lvl="0"/>
            <a:r>
              <a:rPr/>
              <a:t>a retrieval / recommendation app with Sentence Transformers</a:t>
            </a:r>
          </a:p>
          <a:p>
            <a:pPr lvl="0"/>
            <a:r>
              <a:rPr/>
              <a:t>a speech tool</a:t>
            </a:r>
          </a:p>
          <a:p>
            <a:pPr lvl="0"/>
            <a:r>
              <a:rPr/>
              <a:t>an edge deployment project with a ready model</a:t>
            </a:r>
          </a:p>
          <a:p>
            <a:pPr lvl="0" indent="0" marL="0">
              <a:buNone/>
            </a:pPr>
            <a:r>
              <a:rPr/>
              <a:t>These are usually easier to scope well than reinforcement learning or large-model fine-tuning.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Expectations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Want to See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unique project</a:t>
            </a:r>
          </a:p>
          <a:p>
            <a:pPr lvl="0"/>
            <a:r>
              <a:rPr/>
              <a:t>a clear technical path</a:t>
            </a:r>
          </a:p>
          <a:p>
            <a:pPr lvl="0"/>
            <a:r>
              <a:rPr/>
              <a:t>one main framework stack</a:t>
            </a:r>
          </a:p>
          <a:p>
            <a:pPr lvl="0"/>
            <a:r>
              <a:rPr/>
              <a:t>visible effort</a:t>
            </a:r>
          </a:p>
          <a:p>
            <a:pPr lvl="0"/>
            <a:r>
              <a:rPr/>
              <a:t>a working demo or prototype</a:t>
            </a:r>
          </a:p>
          <a:p>
            <a:pPr lvl="0"/>
            <a:r>
              <a:rPr/>
              <a:t>understanding of the code and architecture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Deep learning is a very broad field.</a:t>
            </a:r>
          </a:p>
          <a:p>
            <a:pPr lvl="0"/>
            <a:r>
              <a:rPr/>
              <a:t>You do not need to master all of it in this course.</a:t>
            </a:r>
          </a:p>
          <a:p>
            <a:pPr lvl="0"/>
            <a:r>
              <a:rPr/>
              <a:t>But I want you to leave this course with:</a:t>
            </a:r>
          </a:p>
          <a:p>
            <a:pPr lvl="1"/>
            <a:r>
              <a:rPr/>
              <a:t>a better map of the field</a:t>
            </a:r>
          </a:p>
          <a:p>
            <a:pPr lvl="1"/>
            <a:r>
              <a:rPr/>
              <a:t>experience building one real AI system</a:t>
            </a:r>
          </a:p>
          <a:p>
            <a:pPr lvl="1"/>
            <a:r>
              <a:rPr/>
              <a:t>confidence that you can learn a new framework on your own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choose a technical path</a:t>
            </a:r>
          </a:p>
          <a:p>
            <a:pPr lvl="0"/>
            <a:r>
              <a:rPr/>
              <a:t>choose a framework stack</a:t>
            </a:r>
          </a:p>
          <a:p>
            <a:pPr lvl="0"/>
            <a:r>
              <a:rPr/>
              <a:t>sketch a project idea</a:t>
            </a:r>
          </a:p>
          <a:p>
            <a:pPr lvl="0"/>
            <a:r>
              <a:rPr/>
              <a:t>start building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2026: Project Paths, Frameworks, and Directions</dc:title>
  <dc:creator>Alexander D’hoore</dc:creator>
  <cp:keywords/>
  <dcterms:created xsi:type="dcterms:W3CDTF">2026-04-03T05:05:36Z</dcterms:created>
  <dcterms:modified xsi:type="dcterms:W3CDTF">2026-04-03T05:05:36Z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monofont">
    <vt:lpwstr>Cousine</vt:lpwstr>
  </property>
  <property fmtid="{D5CDD505-2E9C-101B-9397-08002B2CF9AE}" pid="10" name="toc-title">
    <vt:lpwstr>Table of contents</vt:lpwstr>
  </property>
</Properties>
</file>