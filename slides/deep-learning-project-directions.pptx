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g" ContentType="image/jpeg"/>
  <Default Extension="svg" ContentType="image/svg+xml"/>
  <Override PartName="/docProps/app.xml" ContentType="application/vnd.openxmlformats-officedocument.extended-properties+xml"/>
  <Override PartName="/ppt/slideLayouts/slideLayout7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showSpecialPlsOnTitleSld="0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</p:sldIdLst>
  <p:sldSz cx="12192000" cy="6858000"/>
  <p:notesSz cx="6858000" cy="9144000"/>
  <p:defaultTextStyle>
    <a:defPPr>
      <a:defRPr lang="en-BE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7C80"/>
    <a:srgbClr val="FFCCCC"/>
    <a:srgbClr val="0563C1"/>
    <a:srgbClr val="6AA2D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6859"/>
    <p:restoredTop sz="94660"/>
  </p:normalViewPr>
  <p:slideViewPr>
    <p:cSldViewPr snapToGrid="0">
      <p:cViewPr varScale="1">
        <p:scale>
          <a:sx d="100" n="83"/>
          <a:sy d="100" n="83"/>
        </p:scale>
        <p:origin x="600" y="67"/>
      </p:cViewPr>
      <p:guideLst/>
    </p:cSldViewPr>
  </p:slideViewPr>
  <p:notesTextViewPr>
    <p:cViewPr>
      <p:scale>
        <a:sx d="1" n="1"/>
        <a:sy d="1" n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5" Type="http://schemas.openxmlformats.org/officeDocument/2006/relationships/slide" Target="slides/slide1.xml" /><Relationship Id="rId6" Type="http://schemas.openxmlformats.org/officeDocument/2006/relationships/slide" Target="slides/slide2.xml" /><Relationship Id="rId7" Type="http://schemas.openxmlformats.org/officeDocument/2006/relationships/slide" Target="slides/slide3.xml" /><Relationship Id="rId8" Type="http://schemas.openxmlformats.org/officeDocument/2006/relationships/slide" Target="slides/slide4.xml" /><Relationship Id="rId9" Type="http://schemas.openxmlformats.org/officeDocument/2006/relationships/slide" Target="slides/slide5.xml" /><Relationship Id="rId10" Type="http://schemas.openxmlformats.org/officeDocument/2006/relationships/slide" Target="slides/slide6.xml" /><Relationship Id="rId11" Type="http://schemas.openxmlformats.org/officeDocument/2006/relationships/slide" Target="slides/slide7.xml" /><Relationship Id="rId12" Type="http://schemas.openxmlformats.org/officeDocument/2006/relationships/slide" Target="slides/slide8.xml" /><Relationship Id="rId13" Type="http://schemas.openxmlformats.org/officeDocument/2006/relationships/slide" Target="slides/slide9.xml" /><Relationship Id="rId14" Type="http://schemas.openxmlformats.org/officeDocument/2006/relationships/slide" Target="slides/slide10.xml" /><Relationship Id="rId15" Type="http://schemas.openxmlformats.org/officeDocument/2006/relationships/slide" Target="slides/slide11.xml" /><Relationship Id="rId16" Type="http://schemas.openxmlformats.org/officeDocument/2006/relationships/slide" Target="slides/slide12.xml" /><Relationship Id="rId17" Type="http://schemas.openxmlformats.org/officeDocument/2006/relationships/slide" Target="slides/slide13.xml" /><Relationship Id="rId18" Type="http://schemas.openxmlformats.org/officeDocument/2006/relationships/slide" Target="slides/slide14.xml" /><Relationship Id="rId19" Type="http://schemas.openxmlformats.org/officeDocument/2006/relationships/slide" Target="slides/slide15.xml" /><Relationship Id="rId20" Type="http://schemas.openxmlformats.org/officeDocument/2006/relationships/slide" Target="slides/slide16.xml" /><Relationship Id="rId21" Type="http://schemas.openxmlformats.org/officeDocument/2006/relationships/slide" Target="slides/slide17.xml" /><Relationship Id="rId22" Type="http://schemas.openxmlformats.org/officeDocument/2006/relationships/slide" Target="slides/slide18.xml" /><Relationship Id="rId23" Type="http://schemas.openxmlformats.org/officeDocument/2006/relationships/slide" Target="slides/slide19.xml" /><Relationship Id="rId24" Type="http://schemas.openxmlformats.org/officeDocument/2006/relationships/slide" Target="slides/slide20.xml" /><Relationship Id="rId25" Type="http://schemas.openxmlformats.org/officeDocument/2006/relationships/slide" Target="slides/slide21.xml" /><Relationship Id="rId26" Type="http://schemas.openxmlformats.org/officeDocument/2006/relationships/slide" Target="slides/slide22.xml" /><Relationship Id="rId27" Type="http://schemas.openxmlformats.org/officeDocument/2006/relationships/slide" Target="slides/slide23.xml" /><Relationship Id="rId28" Type="http://schemas.openxmlformats.org/officeDocument/2006/relationships/slide" Target="slides/slide24.xml" /><Relationship Id="rId29" Type="http://schemas.openxmlformats.org/officeDocument/2006/relationships/slide" Target="slides/slide25.xml" /><Relationship Id="rId30" Type="http://schemas.openxmlformats.org/officeDocument/2006/relationships/slide" Target="slides/slide26.xml" /><Relationship Id="rId31" Type="http://schemas.openxmlformats.org/officeDocument/2006/relationships/slide" Target="slides/slide27.xml" /><Relationship Id="rId32" Type="http://schemas.openxmlformats.org/officeDocument/2006/relationships/slide" Target="slides/slide28.xml" /><Relationship Id="rId33" Type="http://schemas.openxmlformats.org/officeDocument/2006/relationships/slide" Target="slides/slide29.xml" /><Relationship Id="rId34" Type="http://schemas.openxmlformats.org/officeDocument/2006/relationships/slide" Target="slides/slide30.xml" /><Relationship Id="rId35" Type="http://schemas.openxmlformats.org/officeDocument/2006/relationships/slide" Target="slides/slide31.xml" /><Relationship Id="rId37" Type="http://schemas.openxmlformats.org/officeDocument/2006/relationships/viewProps" Target="viewProps.xml" /><Relationship Id="rId36" Type="http://schemas.openxmlformats.org/officeDocument/2006/relationships/presProps" Target="presProps.xml" /><Relationship Id="rId39" Type="http://schemas.openxmlformats.org/officeDocument/2006/relationships/tableStyles" Target="tableStyles.xml" /><Relationship Id="rId4" Type="http://schemas.openxmlformats.org/officeDocument/2006/relationships/slideMaster" Target="slideMasters/slideMaster1.xml" /><Relationship Id="rId38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A1180A-00E6-7D9D-632F-6C15EEA6BF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8EAD69E-B528-087A-99AE-01C50EA81A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0729014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1D1A22-93E7-53F5-3D1C-BA3AE5668A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184A04-97C2-C83B-3F52-CA55E67682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ijdelijke aanduiding voor tekst 784">
            <a:extLst>
              <a:ext uri="{FF2B5EF4-FFF2-40B4-BE49-F238E27FC236}">
                <a16:creationId xmlns:a16="http://schemas.microsoft.com/office/drawing/2014/main" id="{D5F3149F-9ED1-9034-D500-737E6DBBE3B2}"/>
              </a:ext>
            </a:extLst>
          </p:cNvPr>
          <p:cNvSpPr txBox="1">
            <a:spLocks/>
          </p:cNvSpPr>
          <p:nvPr userDrawn="1"/>
        </p:nvSpPr>
        <p:spPr>
          <a:xfrm>
            <a:off x="138631" y="4157180"/>
            <a:ext cx="257369" cy="1906003"/>
          </a:xfrm>
          <a:prstGeom prst="rect">
            <a:avLst/>
          </a:prstGeom>
        </p:spPr>
        <p:txBody>
          <a:bodyPr vert="vert270" wrap="none" lIns="72000" tIns="72000" rIns="0" bIns="180000" rtlCol="0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Tx/>
              <a:buNone/>
              <a:defRPr sz="1800" b="1" i="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2pPr>
            <a:lvl3pPr marL="266700" indent="-257175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bg2"/>
              </a:buClr>
              <a:buSzPct val="100000"/>
              <a:buFontTx/>
              <a:buBlip>
                <a:blip r:embed="rId2"/>
              </a:buBlip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1688" indent="-26828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bg2"/>
              </a:buClr>
              <a:buFont typeface="Systeemlettertype regulier"/>
              <a:buChar char="－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525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Tx/>
              <a:buNone/>
              <a:tabLst/>
              <a:defRPr sz="18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nl-NL" sz="1200" kern="1200" noProof="0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VLAIO TETRA MLOps4ECM</a:t>
            </a:r>
            <a:endParaRPr lang="en-GB" sz="1200" kern="1200" noProof="0" dirty="0">
              <a:solidFill>
                <a:schemeClr val="tx1">
                  <a:tint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" name="Tijdelijke aanduiding voor dianummer 5">
            <a:extLst>
              <a:ext uri="{FF2B5EF4-FFF2-40B4-BE49-F238E27FC236}">
                <a16:creationId xmlns:a16="http://schemas.microsoft.com/office/drawing/2014/main" id="{51E2B4CD-705E-E28A-043D-E3D4141B0EA5}"/>
              </a:ext>
            </a:extLst>
          </p:cNvPr>
          <p:cNvSpPr txBox="1">
            <a:spLocks noChangeAspect="1"/>
          </p:cNvSpPr>
          <p:nvPr userDrawn="1"/>
        </p:nvSpPr>
        <p:spPr>
          <a:xfrm>
            <a:off x="0" y="6064591"/>
            <a:ext cx="396000" cy="396000"/>
          </a:xfrm>
          <a:prstGeom prst="rect">
            <a:avLst/>
          </a:prstGeom>
          <a:solidFill>
            <a:srgbClr val="E00020"/>
          </a:solidFill>
        </p:spPr>
        <p:txBody>
          <a:bodyPr vert="horz" wrap="none" lIns="36000" tIns="0" rIns="36000" bIns="0" rtlCol="0" anchor="ctr">
            <a:normAutofit/>
          </a:bodyPr>
          <a:lstStyle>
            <a:defPPr>
              <a:defRPr lang="nl-BE"/>
            </a:defPPr>
            <a:lvl1pPr marL="0" algn="ctr" defTabSz="914400" rtl="0" eaLnBrk="1" latinLnBrk="0" hangingPunct="1">
              <a:defRPr sz="1000" kern="120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4FAFF9E-DC53-4AC0-AF44-49258468423F}" type="slidenum">
              <a:rPr lang="nl-BE" sz="1200" kern="1200" noProof="0" smtClean="0">
                <a:solidFill>
                  <a:schemeClr val="bg1"/>
                </a:solidFill>
                <a:latin typeface="+mn-lt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‹nr.›</a:t>
            </a:fld>
            <a:endParaRPr lang="nl-BE" sz="1200" kern="1200" noProof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139395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599B7A-49D6-747B-0DC1-9468669DED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7" y="363600"/>
            <a:ext cx="10515600" cy="1324800"/>
          </a:xfrm>
        </p:spPr>
        <p:txBody>
          <a:bodyPr anchor="ctr" anchorCtr="0">
            <a:normAutofit/>
          </a:bodyPr>
          <a:lstStyle>
            <a:lvl1pPr algn="l" defTabSz="91437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40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2E0C14-FF0F-5E43-2DC6-9C547A6489F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559999" y="2822714"/>
            <a:ext cx="4397835" cy="3806859"/>
          </a:xfrm>
        </p:spPr>
        <p:txBody>
          <a:bodyPr anchor="ctr" anchorCtr="1"/>
          <a:lstStyle>
            <a:lvl1pPr marL="0" indent="0">
              <a:buNone/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err="1"/>
              <a:t>Afbeelding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2DFCD0-D549-8541-2E96-5E270DA67E5E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1825200"/>
            <a:ext cx="10515600" cy="5032800"/>
          </a:xfrm>
        </p:spPr>
        <p:txBody>
          <a:bodyPr>
            <a:normAutofit/>
          </a:bodyPr>
          <a:lstStyle>
            <a:lvl1pPr marL="230400" indent="-230400">
              <a:buFont typeface="Arial" panose="020B0604020202020204" pitchFamily="34" charset="0"/>
              <a:buChar char="•"/>
              <a:defRPr sz="2800"/>
            </a:lvl1pPr>
            <a:lvl2pPr marL="687600" indent="-230400">
              <a:buFont typeface="Arial" panose="020B0604020202020204" pitchFamily="34" charset="0"/>
              <a:buChar char="•"/>
              <a:defRPr sz="2400"/>
            </a:lvl2pPr>
            <a:lvl3pPr marL="1144800" indent="-230400">
              <a:buFont typeface="Arial" panose="020B0604020202020204" pitchFamily="34" charset="0"/>
              <a:buChar char="•"/>
              <a:defRPr sz="2000"/>
            </a:lvl3pPr>
            <a:lvl4pPr marL="1602000" indent="-230400">
              <a:buFont typeface="Arial" panose="020B0604020202020204" pitchFamily="34" charset="0"/>
              <a:buChar char="•"/>
              <a:defRPr sz="1800"/>
            </a:lvl4pPr>
            <a:lvl5pPr marL="2059200" indent="-230400">
              <a:buFont typeface="Arial" panose="020B0604020202020204" pitchFamily="34" charset="0"/>
              <a:buChar char="•"/>
              <a:defRPr sz="18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ijdelijke aanduiding voor tekst 784">
            <a:extLst>
              <a:ext uri="{FF2B5EF4-FFF2-40B4-BE49-F238E27FC236}">
                <a16:creationId xmlns:a16="http://schemas.microsoft.com/office/drawing/2014/main" id="{970307B0-73D9-D11C-316B-6777ECF0D2BA}"/>
              </a:ext>
            </a:extLst>
          </p:cNvPr>
          <p:cNvSpPr txBox="1">
            <a:spLocks/>
          </p:cNvSpPr>
          <p:nvPr userDrawn="1"/>
        </p:nvSpPr>
        <p:spPr>
          <a:xfrm>
            <a:off x="138631" y="4157180"/>
            <a:ext cx="257369" cy="1906003"/>
          </a:xfrm>
          <a:prstGeom prst="rect">
            <a:avLst/>
          </a:prstGeom>
        </p:spPr>
        <p:txBody>
          <a:bodyPr vert="vert270" wrap="none" lIns="72000" tIns="72000" rIns="0" bIns="180000" rtlCol="0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Tx/>
              <a:buNone/>
              <a:defRPr sz="1800" b="1" i="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2pPr>
            <a:lvl3pPr marL="266700" indent="-257175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bg2"/>
              </a:buClr>
              <a:buSzPct val="100000"/>
              <a:buFontTx/>
              <a:buBlip>
                <a:blip r:embed="rId2"/>
              </a:buBlip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1688" indent="-26828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bg2"/>
              </a:buClr>
              <a:buFont typeface="Systeemlettertype regulier"/>
              <a:buChar char="－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525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Tx/>
              <a:buNone/>
              <a:tabLst/>
              <a:defRPr sz="18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nl-NL" sz="1200" kern="1200" noProof="0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VLAIO TETRA MLOps4ECM</a:t>
            </a:r>
            <a:endParaRPr lang="en-GB" sz="1200" kern="1200" noProof="0" dirty="0">
              <a:solidFill>
                <a:schemeClr val="tx1">
                  <a:tint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A73DBB08-0195-B986-BE61-A9537252B094}"/>
              </a:ext>
            </a:extLst>
          </p:cNvPr>
          <p:cNvSpPr txBox="1">
            <a:spLocks noChangeAspect="1"/>
          </p:cNvSpPr>
          <p:nvPr userDrawn="1"/>
        </p:nvSpPr>
        <p:spPr>
          <a:xfrm>
            <a:off x="0" y="6064591"/>
            <a:ext cx="396000" cy="396000"/>
          </a:xfrm>
          <a:prstGeom prst="rect">
            <a:avLst/>
          </a:prstGeom>
          <a:solidFill>
            <a:srgbClr val="E00020"/>
          </a:solidFill>
        </p:spPr>
        <p:txBody>
          <a:bodyPr vert="horz" wrap="none" lIns="36000" tIns="0" rIns="36000" bIns="0" rtlCol="0" anchor="ctr">
            <a:normAutofit/>
          </a:bodyPr>
          <a:lstStyle>
            <a:defPPr>
              <a:defRPr lang="nl-BE"/>
            </a:defPPr>
            <a:lvl1pPr marL="0" algn="ctr" defTabSz="914400" rtl="0" eaLnBrk="1" latinLnBrk="0" hangingPunct="1">
              <a:defRPr sz="1000" kern="120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4FAFF9E-DC53-4AC0-AF44-49258468423F}" type="slidenum">
              <a:rPr lang="nl-BE" sz="1200" kern="1200" noProof="0" smtClean="0">
                <a:solidFill>
                  <a:schemeClr val="bg1"/>
                </a:solidFill>
                <a:latin typeface="+mn-lt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‹nr.›</a:t>
            </a:fld>
            <a:endParaRPr lang="nl-BE" sz="1200" kern="1200" noProof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449077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AED9B2-1B96-B1B6-91DE-ED4F04AF08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9DDB12-491F-5BB2-A956-E33E132610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864111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BD76CE-B6CF-200E-B406-2A826BBC0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FD79E1-C68F-9856-C448-E83CE4375B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60ACA9-74B9-A532-BD00-E94CB593C4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ijdelijke aanduiding voor tekst 784">
            <a:extLst>
              <a:ext uri="{FF2B5EF4-FFF2-40B4-BE49-F238E27FC236}">
                <a16:creationId xmlns:a16="http://schemas.microsoft.com/office/drawing/2014/main" id="{5B848402-9A35-C374-0779-75E6DAE09B1B}"/>
              </a:ext>
            </a:extLst>
          </p:cNvPr>
          <p:cNvSpPr txBox="1">
            <a:spLocks/>
          </p:cNvSpPr>
          <p:nvPr userDrawn="1"/>
        </p:nvSpPr>
        <p:spPr>
          <a:xfrm>
            <a:off x="138631" y="4157180"/>
            <a:ext cx="257369" cy="1906003"/>
          </a:xfrm>
          <a:prstGeom prst="rect">
            <a:avLst/>
          </a:prstGeom>
        </p:spPr>
        <p:txBody>
          <a:bodyPr vert="vert270" wrap="none" lIns="72000" tIns="72000" rIns="0" bIns="180000" rtlCol="0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Tx/>
              <a:buNone/>
              <a:defRPr sz="1800" b="1" i="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2pPr>
            <a:lvl3pPr marL="266700" indent="-257175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bg2"/>
              </a:buClr>
              <a:buSzPct val="100000"/>
              <a:buFontTx/>
              <a:buBlip>
                <a:blip r:embed="rId2"/>
              </a:buBlip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1688" indent="-26828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bg2"/>
              </a:buClr>
              <a:buFont typeface="Systeemlettertype regulier"/>
              <a:buChar char="－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525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Tx/>
              <a:buNone/>
              <a:tabLst/>
              <a:defRPr sz="18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nl-NL" sz="1200" kern="1200" noProof="0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VLAIO TETRA MLOps4ECM</a:t>
            </a:r>
            <a:endParaRPr lang="en-GB" sz="1200" kern="1200" noProof="0" dirty="0">
              <a:solidFill>
                <a:schemeClr val="tx1">
                  <a:tint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21D286DB-9732-00B8-1372-2180A0F03909}"/>
              </a:ext>
            </a:extLst>
          </p:cNvPr>
          <p:cNvSpPr txBox="1">
            <a:spLocks noChangeAspect="1"/>
          </p:cNvSpPr>
          <p:nvPr userDrawn="1"/>
        </p:nvSpPr>
        <p:spPr>
          <a:xfrm>
            <a:off x="0" y="6064591"/>
            <a:ext cx="396000" cy="396000"/>
          </a:xfrm>
          <a:prstGeom prst="rect">
            <a:avLst/>
          </a:prstGeom>
          <a:solidFill>
            <a:srgbClr val="E00020"/>
          </a:solidFill>
        </p:spPr>
        <p:txBody>
          <a:bodyPr vert="horz" wrap="none" lIns="36000" tIns="0" rIns="36000" bIns="0" rtlCol="0" anchor="ctr">
            <a:normAutofit/>
          </a:bodyPr>
          <a:lstStyle>
            <a:defPPr>
              <a:defRPr lang="nl-BE"/>
            </a:defPPr>
            <a:lvl1pPr marL="0" algn="ctr" defTabSz="914400" rtl="0" eaLnBrk="1" latinLnBrk="0" hangingPunct="1">
              <a:defRPr sz="1000" kern="120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4FAFF9E-DC53-4AC0-AF44-49258468423F}" type="slidenum">
              <a:rPr lang="nl-BE" sz="1200" kern="1200" noProof="0" smtClean="0">
                <a:solidFill>
                  <a:schemeClr val="bg1"/>
                </a:solidFill>
                <a:latin typeface="+mn-lt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‹nr.›</a:t>
            </a:fld>
            <a:endParaRPr lang="nl-BE" sz="1200" kern="1200" noProof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004533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D68494-3F5B-A1D0-0A02-45F1C49576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126EFF-9A9E-19C0-7132-C3B58885CA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5C4E49-4C5B-03A2-9E36-F0E474C679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62A5467-CD6D-2A35-FDAD-C9036280C5C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B0168C4-8D7F-60F0-6D0E-C6AF103427F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ijdelijke aanduiding voor tekst 784">
            <a:extLst>
              <a:ext uri="{FF2B5EF4-FFF2-40B4-BE49-F238E27FC236}">
                <a16:creationId xmlns:a16="http://schemas.microsoft.com/office/drawing/2014/main" id="{09C61AD4-E22B-5483-A410-EB512374EAAC}"/>
              </a:ext>
            </a:extLst>
          </p:cNvPr>
          <p:cNvSpPr txBox="1">
            <a:spLocks/>
          </p:cNvSpPr>
          <p:nvPr userDrawn="1"/>
        </p:nvSpPr>
        <p:spPr>
          <a:xfrm>
            <a:off x="138631" y="4157180"/>
            <a:ext cx="257369" cy="1906003"/>
          </a:xfrm>
          <a:prstGeom prst="rect">
            <a:avLst/>
          </a:prstGeom>
        </p:spPr>
        <p:txBody>
          <a:bodyPr vert="vert270" wrap="none" lIns="72000" tIns="72000" rIns="0" bIns="180000" rtlCol="0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Tx/>
              <a:buNone/>
              <a:defRPr sz="1800" b="1" i="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2pPr>
            <a:lvl3pPr marL="266700" indent="-257175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bg2"/>
              </a:buClr>
              <a:buSzPct val="100000"/>
              <a:buFontTx/>
              <a:buBlip>
                <a:blip r:embed="rId2"/>
              </a:buBlip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1688" indent="-26828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bg2"/>
              </a:buClr>
              <a:buFont typeface="Systeemlettertype regulier"/>
              <a:buChar char="－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525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Tx/>
              <a:buNone/>
              <a:tabLst/>
              <a:defRPr sz="18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nl-NL" sz="1200" kern="1200" noProof="0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VLAIO TETRA MLOps4ECM</a:t>
            </a:r>
            <a:endParaRPr lang="en-GB" sz="1200" kern="1200" noProof="0" dirty="0">
              <a:solidFill>
                <a:schemeClr val="tx1">
                  <a:tint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Tijdelijke aanduiding voor dianummer 5">
            <a:extLst>
              <a:ext uri="{FF2B5EF4-FFF2-40B4-BE49-F238E27FC236}">
                <a16:creationId xmlns:a16="http://schemas.microsoft.com/office/drawing/2014/main" id="{256193B6-1431-5F48-9875-C3361455ACDD}"/>
              </a:ext>
            </a:extLst>
          </p:cNvPr>
          <p:cNvSpPr txBox="1">
            <a:spLocks noChangeAspect="1"/>
          </p:cNvSpPr>
          <p:nvPr userDrawn="1"/>
        </p:nvSpPr>
        <p:spPr>
          <a:xfrm>
            <a:off x="0" y="6064591"/>
            <a:ext cx="396000" cy="396000"/>
          </a:xfrm>
          <a:prstGeom prst="rect">
            <a:avLst/>
          </a:prstGeom>
          <a:solidFill>
            <a:srgbClr val="E00020"/>
          </a:solidFill>
        </p:spPr>
        <p:txBody>
          <a:bodyPr vert="horz" wrap="none" lIns="36000" tIns="0" rIns="36000" bIns="0" rtlCol="0" anchor="ctr">
            <a:normAutofit/>
          </a:bodyPr>
          <a:lstStyle>
            <a:defPPr>
              <a:defRPr lang="nl-BE"/>
            </a:defPPr>
            <a:lvl1pPr marL="0" algn="ctr" defTabSz="914400" rtl="0" eaLnBrk="1" latinLnBrk="0" hangingPunct="1">
              <a:defRPr sz="1000" kern="120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4FAFF9E-DC53-4AC0-AF44-49258468423F}" type="slidenum">
              <a:rPr lang="nl-BE" sz="1200" kern="1200" noProof="0" smtClean="0">
                <a:solidFill>
                  <a:schemeClr val="bg1"/>
                </a:solidFill>
                <a:latin typeface="+mn-lt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‹nr.›</a:t>
            </a:fld>
            <a:endParaRPr lang="nl-BE" sz="1200" kern="1200" noProof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917254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ekst 784">
            <a:extLst>
              <a:ext uri="{FF2B5EF4-FFF2-40B4-BE49-F238E27FC236}">
                <a16:creationId xmlns:a16="http://schemas.microsoft.com/office/drawing/2014/main" id="{79CD12EE-C134-F278-2980-F9DD3F86D6BB}"/>
              </a:ext>
            </a:extLst>
          </p:cNvPr>
          <p:cNvSpPr txBox="1">
            <a:spLocks/>
          </p:cNvSpPr>
          <p:nvPr userDrawn="1"/>
        </p:nvSpPr>
        <p:spPr>
          <a:xfrm>
            <a:off x="138631" y="4157180"/>
            <a:ext cx="257369" cy="1906003"/>
          </a:xfrm>
          <a:prstGeom prst="rect">
            <a:avLst/>
          </a:prstGeom>
        </p:spPr>
        <p:txBody>
          <a:bodyPr vert="vert270" wrap="none" lIns="72000" tIns="72000" rIns="0" bIns="180000" rtlCol="0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Tx/>
              <a:buNone/>
              <a:defRPr sz="1800" b="1" i="0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2pPr>
            <a:lvl3pPr marL="266700" indent="-257175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bg2"/>
              </a:buClr>
              <a:buSzPct val="100000"/>
              <a:buFontTx/>
              <a:buBlip>
                <a:blip r:embed="rId2"/>
              </a:buBlip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1688" indent="-26828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bg2"/>
              </a:buClr>
              <a:buFont typeface="Systeemlettertype regulier"/>
              <a:buChar char="－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525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Tx/>
              <a:buNone/>
              <a:tabLst/>
              <a:defRPr sz="18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nl-NL" sz="1200" kern="1200" noProof="0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VLAIO TETRA MLOps4ECM</a:t>
            </a:r>
            <a:endParaRPr lang="en-GB" sz="1200" kern="1200" noProof="0" dirty="0">
              <a:solidFill>
                <a:schemeClr val="tx1">
                  <a:tint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Tijdelijke aanduiding voor dianummer 5">
            <a:extLst>
              <a:ext uri="{FF2B5EF4-FFF2-40B4-BE49-F238E27FC236}">
                <a16:creationId xmlns:a16="http://schemas.microsoft.com/office/drawing/2014/main" id="{33B0AF44-CC27-05A6-79EA-DA747A996CBD}"/>
              </a:ext>
            </a:extLst>
          </p:cNvPr>
          <p:cNvSpPr txBox="1">
            <a:spLocks noChangeAspect="1"/>
          </p:cNvSpPr>
          <p:nvPr userDrawn="1"/>
        </p:nvSpPr>
        <p:spPr>
          <a:xfrm>
            <a:off x="0" y="6064591"/>
            <a:ext cx="396000" cy="396000"/>
          </a:xfrm>
          <a:prstGeom prst="rect">
            <a:avLst/>
          </a:prstGeom>
          <a:solidFill>
            <a:srgbClr val="E00020"/>
          </a:solidFill>
        </p:spPr>
        <p:txBody>
          <a:bodyPr vert="horz" wrap="none" lIns="36000" tIns="0" rIns="36000" bIns="0" rtlCol="0" anchor="ctr">
            <a:normAutofit/>
          </a:bodyPr>
          <a:lstStyle>
            <a:defPPr>
              <a:defRPr lang="nl-BE"/>
            </a:defPPr>
            <a:lvl1pPr marL="0" algn="ctr" defTabSz="914400" rtl="0" eaLnBrk="1" latinLnBrk="0" hangingPunct="1">
              <a:defRPr sz="1000" kern="120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4FAFF9E-DC53-4AC0-AF44-49258468423F}" type="slidenum">
              <a:rPr lang="nl-BE" sz="1200" kern="1200" noProof="0" smtClean="0">
                <a:solidFill>
                  <a:schemeClr val="bg1"/>
                </a:solidFill>
                <a:latin typeface="+mn-lt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‹nr.›</a:t>
            </a:fld>
            <a:endParaRPr lang="nl-BE" sz="1200" kern="1200" noProof="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607304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theme/theme1.xml" Type="http://schemas.openxmlformats.org/officeDocument/2006/relationships/theme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media/image4.png" Type="http://schemas.openxmlformats.org/officeDocument/2006/relationships/imag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media/image3.png" Type="http://schemas.openxmlformats.org/officeDocument/2006/relationships/image" /><Relationship Id="rId5" Target="../slideLayouts/slideLayout5.xml" Type="http://schemas.openxmlformats.org/officeDocument/2006/relationships/slideLayout" /><Relationship Id="rId10" Target="../media/image2.svg" Type="http://schemas.openxmlformats.org/officeDocument/2006/relationships/image" /><Relationship Id="rId4" Target="../slideLayouts/slideLayout4.xml" Type="http://schemas.openxmlformats.org/officeDocument/2006/relationships/slideLayout" /><Relationship Id="rId9" Target="../media/image1.png" Type="http://schemas.openxmlformats.org/officeDocument/2006/relationships/image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18329E0-B3CA-8E19-BC3B-715665FAF7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dirty="0"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98CA2F-F634-E1A9-CED8-8DDF6111C544}"/>
              </a:ext>
            </a:extLst>
          </p:cNvPr>
          <p:cNvSpPr>
            <a:spLocks noGrp="1"/>
          </p:cNvSpPr>
          <p:nvPr>
            <p:ph idx="1" type="body"/>
          </p:nvPr>
        </p:nvSpPr>
        <p:spPr>
          <a:xfrm>
            <a:off x="838200" y="1825624"/>
            <a:ext cx="10515600" cy="5032375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</a:p>
        </p:txBody>
      </p:sp>
      <p:pic>
        <p:nvPicPr>
          <p:cNvPr id="17" name="Graphic 16">
            <a:extLst>
              <a:ext uri="{FF2B5EF4-FFF2-40B4-BE49-F238E27FC236}">
                <a16:creationId xmlns:a16="http://schemas.microsoft.com/office/drawing/2014/main" id="{9921E047-E6D9-B995-3435-56287CF518FB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-4050" y="0"/>
            <a:ext cx="400050" cy="1981200"/>
          </a:xfrm>
          <a:prstGeom prst="rect">
            <a:avLst/>
          </a:prstGeom>
        </p:spPr>
      </p:pic>
      <p:pic>
        <p:nvPicPr>
          <p:cNvPr id="4" name="Picture 6">
            <a:extLst>
              <a:ext uri="{FF2B5EF4-FFF2-40B4-BE49-F238E27FC236}">
                <a16:creationId xmlns:a16="http://schemas.microsoft.com/office/drawing/2014/main" id="{D6C89B78-77C7-B736-B81F-26DB8983FC3D}"/>
              </a:ext>
            </a:extLst>
          </p:cNvPr>
          <p:cNvPicPr>
            <a:picLocks noChangeAspect="1"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10720227" y="108088"/>
            <a:ext cx="1294591" cy="467266"/>
          </a:xfrm>
          <a:prstGeom prst="rect">
            <a:avLst/>
          </a:prstGeom>
        </p:spPr>
      </p:pic>
      <p:pic>
        <p:nvPicPr>
          <p:cNvPr descr="Text, logo  Description automatically generated" id="6" name="Picture 8">
            <a:extLst>
              <a:ext uri="{FF2B5EF4-FFF2-40B4-BE49-F238E27FC236}">
                <a16:creationId xmlns:a16="http://schemas.microsoft.com/office/drawing/2014/main" id="{900B9CDA-58D9-66C6-71FA-EB0940BC1D98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65805" y="108089"/>
            <a:ext cx="1308347" cy="467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9176082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6" r:id="rId3"/>
    <p:sldLayoutId id="2147483651" r:id="rId4"/>
    <p:sldLayoutId id="2147483652" r:id="rId5"/>
    <p:sldLayoutId id="2147483653" r:id="rId6"/>
    <p:sldLayoutId id="2147483655" r:id="rId7"/>
  </p:sldLayoutIdLst>
  <p:hf hdr="0"/>
  <p:txStyles>
    <p:titleStyle>
      <a:lvl1pPr algn="l" defTabSz="914377" eaLnBrk="1" hangingPunct="1" latinLnBrk="0" rtl="0">
        <a:lnSpc>
          <a:spcPct val="90000"/>
        </a:lnSpc>
        <a:spcBef>
          <a:spcPct val="0"/>
        </a:spcBef>
        <a:buNone/>
        <a:defRPr kern="1200"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914377" eaLnBrk="1" hangingPunct="1" indent="-228594" latinLnBrk="0" marL="228594" rtl="0">
        <a:lnSpc>
          <a:spcPct val="90000"/>
        </a:lnSpc>
        <a:spcBef>
          <a:spcPts val="1000"/>
        </a:spcBef>
        <a:buFont charset="0" panose="020B0604020202020204" pitchFamily="34" typeface="Arial"/>
        <a:buChar char="•"/>
        <a:defRPr kern="1200" sz="2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377" eaLnBrk="1" hangingPunct="1" indent="-228594" latinLnBrk="0" marL="685783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377" eaLnBrk="1" hangingPunct="1" indent="-228594" latinLnBrk="0" marL="1142971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377" eaLnBrk="1" hangingPunct="1" indent="-228594" latinLnBrk="0" marL="160016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377" eaLnBrk="1" hangingPunct="1" indent="-228594" latinLnBrk="0" marL="2057349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377" eaLnBrk="1" hangingPunct="1" indent="-228594" latinLnBrk="0" marL="2514537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377" eaLnBrk="1" hangingPunct="1" indent="-228594" latinLnBrk="0" marL="2971726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377" eaLnBrk="1" hangingPunct="1" indent="-228594" latinLnBrk="0" marL="3428914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377" eaLnBrk="1" hangingPunct="1" indent="-228594" latinLnBrk="0" marL="3886103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BE"/>
      </a:defPPr>
      <a:lvl1pPr algn="l" defTabSz="914377" eaLnBrk="1" hangingPunct="1" latinLnBrk="0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377" eaLnBrk="1" hangingPunct="1" latinLnBrk="0" marL="457189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377" eaLnBrk="1" hangingPunct="1" latinLnBrk="0" marL="914377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377" eaLnBrk="1" hangingPunct="1" latinLnBrk="0" marL="1371566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377" eaLnBrk="1" hangingPunct="1" latinLnBrk="0" marL="1828754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377" eaLnBrk="1" hangingPunct="1" latinLnBrk="0" marL="2285943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377" eaLnBrk="1" hangingPunct="1" latinLnBrk="0" marL="2743131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377" eaLnBrk="1" hangingPunct="1" latinLnBrk="0" marL="320032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377" eaLnBrk="1" hangingPunct="1" latinLnBrk="0" marL="3657509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Relationship Id="rId2" Type="http://schemas.openxmlformats.org/officeDocument/2006/relationships/image" Target="../media/image6.png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Relationship Id="rId2" Type="http://schemas.openxmlformats.org/officeDocument/2006/relationships/image" Target="../media/image7.png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Relationship Id="rId2" Type="http://schemas.openxmlformats.org/officeDocument/2006/relationships/image" Target="../media/image8.jpg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Relationship Id="rId2" Type="http://schemas.openxmlformats.org/officeDocument/2006/relationships/image" Target="../media/image9.jpg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Relationship Id="rId2" Type="http://schemas.openxmlformats.org/officeDocument/2006/relationships/image" Target="../media/image10.jpg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A1180A-00E6-7D9D-632F-6C15EEA6BF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Deep Learning 2026: Project Paths, Frameworks, and Directions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8EAD69E-B528-087A-99AE-01C50EA81A9C}"/>
              </a:ext>
            </a:extLst>
          </p:cNvPr>
          <p:cNvSpPr>
            <a:spLocks noGrp="1"/>
          </p:cNvSpPr>
          <p:nvPr>
            <p:ph idx="1" type="subTitle"/>
          </p:nvPr>
        </p:nvSpPr>
        <p:spPr>
          <a:xfrm>
            <a:off x="1524000" y="3602038"/>
            <a:ext cx="9144000" cy="1655762"/>
          </a:xfrm>
        </p:spPr>
        <p:txBody>
          <a:bodyPr/>
          <a:lstStyle/>
          <a:p>
            <a:pPr lvl="0" indent="0" marL="0">
              <a:buNone/>
            </a:pPr>
            <a:r>
              <a:rPr/>
              <a:t>Alexander D’hoore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AED9B2-1B96-B1B6-91DE-ED4F04AF08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/>
          <a:lstStyle/>
          <a:p>
            <a:pPr lvl="0" indent="0" marL="0">
              <a:buNone/>
            </a:pPr>
            <a:r>
              <a:rPr/>
              <a:t>Welcome to Deep Learning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599B7A-49D6-747B-0DC1-9468669DED68}"/>
              </a:ext>
            </a:extLst>
          </p:cNvPr>
          <p:cNvSpPr>
            <a:spLocks noGrp="1"/>
          </p:cNvSpPr>
          <p:nvPr>
            <p:ph hasCustomPrompt="1" type="title"/>
          </p:nvPr>
        </p:nvSpPr>
        <p:spPr>
          <a:xfrm>
            <a:off x="839787" y="363600"/>
            <a:ext cx="10515600" cy="13248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Today’s Goal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2DFCD0-D549-8541-2E96-5E270DA67E5E}"/>
              </a:ext>
            </a:extLst>
          </p:cNvPr>
          <p:cNvSpPr>
            <a:spLocks noGrp="1"/>
          </p:cNvSpPr>
          <p:nvPr>
            <p:ph hasCustomPrompt="1" idx="2" sz="half" type="body"/>
          </p:nvPr>
        </p:nvSpPr>
        <p:spPr/>
        <p:txBody>
          <a:bodyPr/>
          <a:lstStyle/>
          <a:p>
            <a:pPr lvl="0"/>
            <a:r>
              <a:rPr/>
              <a:t>In this short introduction, I want to give you a </a:t>
            </a:r>
            <a:r>
              <a:rPr b="1"/>
              <a:t>map of the field</a:t>
            </a:r>
            <a:r>
              <a:rPr/>
              <a:t>.</a:t>
            </a:r>
          </a:p>
          <a:p>
            <a:pPr lvl="0"/>
            <a:r>
              <a:rPr/>
              <a:t>Not deep theory, but a practical overview of what kinds of deep-learning systems you could build.</a:t>
            </a:r>
          </a:p>
          <a:p>
            <a:pPr lvl="0"/>
            <a:r>
              <a:rPr/>
              <a:t>The main goal today:</a:t>
            </a:r>
          </a:p>
          <a:p>
            <a:pPr lvl="1"/>
            <a:r>
              <a:rPr/>
              <a:t>choose a technical path</a:t>
            </a:r>
          </a:p>
          <a:p>
            <a:pPr lvl="1"/>
            <a:r>
              <a:rPr/>
              <a:t>choose a framework stack</a:t>
            </a:r>
          </a:p>
          <a:p>
            <a:pPr lvl="1"/>
            <a:r>
              <a:rPr/>
              <a:t>start shaping your own project</a:t>
            </a:r>
          </a:p>
        </p:txBody>
      </p:sp>
      <p:pic>
        <p:nvPicPr>
          <p:cNvPr descr="media/generative-ai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7848600" y="2819400"/>
            <a:ext cx="3797300" cy="3797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1D1A22-93E7-53F5-3D1C-BA3AE5668A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How This Part of the Course 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184A04-97C2-C83B-3F52-CA55E67682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The course is short:</a:t>
            </a:r>
          </a:p>
          <a:p>
            <a:pPr lvl="1"/>
            <a:r>
              <a:rPr/>
              <a:t>4 lessons of 4 hours</a:t>
            </a:r>
          </a:p>
          <a:p>
            <a:pPr lvl="1"/>
            <a:r>
              <a:rPr/>
              <a:t>plus the exam</a:t>
            </a:r>
          </a:p>
          <a:p>
            <a:pPr lvl="0"/>
            <a:r>
              <a:rPr/>
              <a:t>The first lesson already introduced you to practical generative AI.</a:t>
            </a:r>
          </a:p>
          <a:p>
            <a:pPr lvl="0"/>
            <a:r>
              <a:rPr/>
              <a:t>The remaining lessons are mainly for building your own project.</a:t>
            </a:r>
          </a:p>
          <a:p>
            <a:pPr lvl="0"/>
            <a:r>
              <a:rPr/>
              <a:t>So today is about </a:t>
            </a:r>
            <a:r>
              <a:rPr b="1"/>
              <a:t>choosing a good direction</a:t>
            </a:r>
            <a:r>
              <a:rPr/>
              <a:t>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1D1A22-93E7-53F5-3D1C-BA3AE5668A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How You Will Be Evaluated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184A04-97C2-C83B-3F52-CA55E67682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You will build a </a:t>
            </a:r>
            <a:r>
              <a:rPr b="1"/>
              <a:t>unique AI application or prototype</a:t>
            </a:r>
            <a:r>
              <a:rPr/>
              <a:t>.</a:t>
            </a:r>
          </a:p>
          <a:p>
            <a:pPr lvl="0"/>
            <a:r>
              <a:rPr/>
              <a:t>At the exam, you will:</a:t>
            </a:r>
          </a:p>
          <a:p>
            <a:pPr lvl="1"/>
            <a:r>
              <a:rPr/>
              <a:t>present what you built</a:t>
            </a:r>
          </a:p>
          <a:p>
            <a:pPr lvl="1"/>
            <a:r>
              <a:rPr/>
              <a:t>explain your design choices</a:t>
            </a:r>
          </a:p>
          <a:p>
            <a:pPr lvl="1"/>
            <a:r>
              <a:rPr/>
              <a:t>defend your code and architecture</a:t>
            </a:r>
          </a:p>
          <a:p>
            <a:pPr lvl="0"/>
            <a:r>
              <a:rPr/>
              <a:t>You may use AI tools while building.</a:t>
            </a:r>
          </a:p>
          <a:p>
            <a:pPr lvl="0"/>
            <a:r>
              <a:rPr/>
              <a:t>But during the exam, </a:t>
            </a:r>
            <a:r>
              <a:rPr b="1"/>
              <a:t>you</a:t>
            </a:r>
            <a:r>
              <a:rPr/>
              <a:t> must understand what your system does.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AED9B2-1B96-B1B6-91DE-ED4F04AF08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/>
          <a:lstStyle/>
          <a:p>
            <a:pPr lvl="0" indent="0" marL="0">
              <a:buNone/>
            </a:pPr>
            <a:r>
              <a:rPr/>
              <a:t>How to Choose a Project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1D1A22-93E7-53F5-3D1C-BA3AE5668A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First Choose a Technical Path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184A04-97C2-C83B-3F52-CA55E67682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Before choosing an application, it is often easier to choose a </a:t>
            </a:r>
            <a:r>
              <a:rPr b="1"/>
              <a:t>technical path</a:t>
            </a:r>
            <a:r>
              <a:rPr/>
              <a:t>.</a:t>
            </a:r>
          </a:p>
          <a:p>
            <a:pPr lvl="0"/>
            <a:r>
              <a:rPr/>
              <a:t>In this course, the main paths are:</a:t>
            </a:r>
          </a:p>
          <a:p>
            <a:pPr lvl="1"/>
            <a:r>
              <a:rPr/>
              <a:t>train or retrain your own model</a:t>
            </a:r>
          </a:p>
          <a:p>
            <a:pPr lvl="1"/>
            <a:r>
              <a:rPr/>
              <a:t>build with pretrained foundation models</a:t>
            </a:r>
          </a:p>
          <a:p>
            <a:pPr lvl="1"/>
            <a:r>
              <a:rPr/>
              <a:t>adapt / fine-tune large pretrained models</a:t>
            </a:r>
          </a:p>
          <a:p>
            <a:pPr lvl="1"/>
            <a:r>
              <a:rPr/>
              <a:t>reinforcement learning</a:t>
            </a:r>
          </a:p>
          <a:p>
            <a:pPr lvl="1"/>
            <a:r>
              <a:rPr/>
              <a:t>edge AI and deployment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1D1A22-93E7-53F5-3D1C-BA3AE5668A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Then Choose an Application Direction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184A04-97C2-C83B-3F52-CA55E67682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After that, choose the domain where you want to apply that path.</a:t>
            </a:r>
          </a:p>
          <a:p>
            <a:pPr lvl="0"/>
            <a:r>
              <a:rPr/>
              <a:t>Good directions include:</a:t>
            </a:r>
          </a:p>
          <a:p>
            <a:pPr lvl="1"/>
            <a:r>
              <a:rPr/>
              <a:t>computer vision</a:t>
            </a:r>
          </a:p>
          <a:p>
            <a:pPr lvl="1"/>
            <a:r>
              <a:rPr/>
              <a:t>text / LLM apps</a:t>
            </a:r>
          </a:p>
          <a:p>
            <a:pPr lvl="1"/>
            <a:r>
              <a:rPr/>
              <a:t>speech and audio</a:t>
            </a:r>
          </a:p>
          <a:p>
            <a:pPr lvl="1"/>
            <a:r>
              <a:rPr/>
              <a:t>multimodal and document AI</a:t>
            </a:r>
          </a:p>
          <a:p>
            <a:pPr lvl="1"/>
            <a:r>
              <a:rPr/>
              <a:t>time-series and sensor signals</a:t>
            </a:r>
          </a:p>
          <a:p>
            <a:pPr lvl="1"/>
            <a:r>
              <a:rPr/>
              <a:t>semantic search / retrieval / recommendation</a:t>
            </a:r>
          </a:p>
          <a:p>
            <a:pPr lvl="1"/>
            <a:r>
              <a:rPr/>
              <a:t>reinforcement learning</a:t>
            </a:r>
          </a:p>
          <a:p>
            <a:pPr lvl="1"/>
            <a:r>
              <a:rPr/>
              <a:t>edge deployment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1D1A22-93E7-53F5-3D1C-BA3AE5668A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Good Project Formula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184A04-97C2-C83B-3F52-CA55E67682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/>
              <a:t>Input -&gt; AI model -&gt; useful output -&gt; interface</a:t>
            </a:r>
          </a:p>
          <a:p>
            <a:pPr lvl="0" indent="0" marL="0">
              <a:buNone/>
            </a:pPr>
            <a:r>
              <a:rPr/>
              <a:t>Examples:</a:t>
            </a:r>
          </a:p>
          <a:p>
            <a:pPr lvl="0"/>
            <a:r>
              <a:rPr/>
              <a:t>image -&gt; detector -&gt; labels and boxes -&gt; web app</a:t>
            </a:r>
          </a:p>
          <a:p>
            <a:pPr lvl="0"/>
            <a:r>
              <a:rPr/>
              <a:t>user question + documents -&gt; retrieval + LLM -&gt; answer -&gt; chat UI</a:t>
            </a:r>
          </a:p>
          <a:p>
            <a:pPr lvl="0"/>
            <a:r>
              <a:rPr/>
              <a:t>speech -&gt; transcription -&gt; summary -&gt; web app</a:t>
            </a:r>
          </a:p>
          <a:p>
            <a:pPr lvl="0"/>
            <a:r>
              <a:rPr/>
              <a:t>sensor data -&gt; anomaly detector -&gt; warning -&gt; dashboard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1D1A22-93E7-53F5-3D1C-BA3AE5668A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Scope Matters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184A04-97C2-C83B-3F52-CA55E67682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Pick something interesting, but also feasible.</a:t>
            </a:r>
          </a:p>
          <a:p>
            <a:pPr lvl="0"/>
            <a:r>
              <a:rPr/>
              <a:t>A good project usually has:</a:t>
            </a:r>
          </a:p>
          <a:p>
            <a:pPr lvl="1"/>
            <a:r>
              <a:rPr/>
              <a:t>one clear problem</a:t>
            </a:r>
          </a:p>
          <a:p>
            <a:pPr lvl="1"/>
            <a:r>
              <a:rPr/>
              <a:t>one main framework</a:t>
            </a:r>
          </a:p>
          <a:p>
            <a:pPr lvl="1"/>
            <a:r>
              <a:rPr/>
              <a:t>one demoable result</a:t>
            </a:r>
          </a:p>
          <a:p>
            <a:pPr lvl="0"/>
            <a:r>
              <a:rPr/>
              <a:t>Avoid choosing:</a:t>
            </a:r>
          </a:p>
          <a:p>
            <a:pPr lvl="1"/>
            <a:r>
              <a:rPr/>
              <a:t>the hardest model training path</a:t>
            </a:r>
          </a:p>
          <a:p>
            <a:pPr lvl="1"/>
            <a:r>
              <a:rPr/>
              <a:t>and the hardest deployment path</a:t>
            </a:r>
          </a:p>
          <a:p>
            <a:pPr lvl="1"/>
            <a:r>
              <a:rPr/>
              <a:t>at the same time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AED9B2-1B96-B1B6-91DE-ED4F04AF08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/>
          <a:lstStyle/>
          <a:p>
            <a:pPr lvl="0" indent="0" marL="0">
              <a:buNone/>
            </a:pPr>
            <a:r>
              <a:rPr/>
              <a:t>Technical Paths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1D1A22-93E7-53F5-3D1C-BA3AE5668A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Path 1: Train or Retrain Your Own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184A04-97C2-C83B-3F52-CA55E67682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This is the classical deep-learning workflow:</a:t>
            </a:r>
          </a:p>
          <a:p>
            <a:pPr lvl="1"/>
            <a:r>
              <a:rPr/>
              <a:t>dataset</a:t>
            </a:r>
          </a:p>
          <a:p>
            <a:pPr lvl="1"/>
            <a:r>
              <a:rPr/>
              <a:t>model</a:t>
            </a:r>
          </a:p>
          <a:p>
            <a:pPr lvl="1"/>
            <a:r>
              <a:rPr/>
              <a:t>training</a:t>
            </a:r>
          </a:p>
          <a:p>
            <a:pPr lvl="1"/>
            <a:r>
              <a:rPr/>
              <a:t>evaluation</a:t>
            </a:r>
          </a:p>
          <a:p>
            <a:pPr lvl="1"/>
            <a:r>
              <a:rPr/>
              <a:t>deployment</a:t>
            </a:r>
          </a:p>
          <a:p>
            <a:pPr lvl="0"/>
            <a:r>
              <a:rPr/>
              <a:t>Important:</a:t>
            </a:r>
          </a:p>
          <a:p>
            <a:pPr lvl="1"/>
            <a:r>
              <a:rPr/>
              <a:t>this can still start from a pretrained model</a:t>
            </a:r>
          </a:p>
          <a:p>
            <a:pPr lvl="1"/>
            <a:r>
              <a:rPr/>
              <a:t>for example MobileNet, YOLO, or another pretrained model</a:t>
            </a:r>
          </a:p>
          <a:p>
            <a:pPr lvl="1"/>
            <a:r>
              <a:rPr/>
              <a:t>then you continue training it on your own data</a:t>
            </a:r>
          </a:p>
          <a:p>
            <a:pPr lvl="0"/>
            <a:r>
              <a:rPr/>
              <a:t>Good tools:</a:t>
            </a:r>
          </a:p>
          <a:p>
            <a:pPr lvl="1"/>
            <a:r>
              <a:rPr/>
              <a:t>PyTorch</a:t>
            </a:r>
          </a:p>
          <a:p>
            <a:pPr lvl="1"/>
            <a:r>
              <a:rPr/>
              <a:t>torchvision / torchaudio</a:t>
            </a:r>
          </a:p>
          <a:p>
            <a:pPr lvl="1"/>
            <a:r>
              <a:rPr/>
              <a:t>YOLO</a:t>
            </a:r>
          </a:p>
          <a:p>
            <a:pPr lvl="1"/>
            <a:r>
              <a:rPr/>
              <a:t>RF-DETR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1D1A22-93E7-53F5-3D1C-BA3AE5668A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Path 2: Build With Pretrained Foundation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184A04-97C2-C83B-3F52-CA55E67682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Here the main work is </a:t>
            </a:r>
            <a:r>
              <a:rPr b="1"/>
              <a:t>building around a model</a:t>
            </a:r>
            <a:r>
              <a:rPr/>
              <a:t>, not training it from scratch.</a:t>
            </a:r>
          </a:p>
          <a:p>
            <a:pPr lvl="0"/>
            <a:r>
              <a:rPr/>
              <a:t>This is how many modern AI applications are made.</a:t>
            </a:r>
          </a:p>
          <a:p>
            <a:pPr lvl="0"/>
            <a:r>
              <a:rPr/>
              <a:t>Good examples:</a:t>
            </a:r>
          </a:p>
          <a:p>
            <a:pPr lvl="1"/>
            <a:r>
              <a:rPr/>
              <a:t>chatbot</a:t>
            </a:r>
          </a:p>
          <a:p>
            <a:pPr lvl="1"/>
            <a:r>
              <a:rPr/>
              <a:t>multimodal assistant</a:t>
            </a:r>
          </a:p>
          <a:p>
            <a:pPr lvl="1"/>
            <a:r>
              <a:rPr/>
              <a:t>speech tool</a:t>
            </a:r>
          </a:p>
          <a:p>
            <a:pPr lvl="1"/>
            <a:r>
              <a:rPr/>
              <a:t>image generator</a:t>
            </a:r>
          </a:p>
          <a:p>
            <a:pPr lvl="1"/>
            <a:r>
              <a:rPr/>
              <a:t>semantic search app</a:t>
            </a:r>
          </a:p>
          <a:p>
            <a:pPr lvl="0"/>
            <a:r>
              <a:rPr/>
              <a:t>Good tools:</a:t>
            </a:r>
          </a:p>
          <a:p>
            <a:pPr lvl="1"/>
            <a:r>
              <a:rPr/>
              <a:t>Hugging Face Transformers</a:t>
            </a:r>
          </a:p>
          <a:p>
            <a:pPr lvl="1"/>
            <a:r>
              <a:rPr/>
              <a:t>Diffusers</a:t>
            </a:r>
          </a:p>
          <a:p>
            <a:pPr lvl="1"/>
            <a:r>
              <a:rPr/>
              <a:t>Ollama</a:t>
            </a:r>
          </a:p>
          <a:p>
            <a:pPr lvl="1"/>
            <a:r>
              <a:rPr/>
              <a:t>Sentence Transformers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1D1A22-93E7-53F5-3D1C-BA3AE5668A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Path 3: Adapt or Fine-Tune Large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184A04-97C2-C83B-3F52-CA55E67682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This is different from normal transfer learning on a smaller model.</a:t>
            </a:r>
          </a:p>
          <a:p>
            <a:pPr lvl="0"/>
            <a:r>
              <a:rPr/>
              <a:t>For large foundation models, it is often not practical to retrain everything.</a:t>
            </a:r>
          </a:p>
          <a:p>
            <a:pPr lvl="0"/>
            <a:r>
              <a:rPr/>
              <a:t>Instead, you adapt part of the model using methods such as:</a:t>
            </a:r>
          </a:p>
          <a:p>
            <a:pPr lvl="1"/>
            <a:r>
              <a:rPr/>
              <a:t>LoRA</a:t>
            </a:r>
          </a:p>
          <a:p>
            <a:pPr lvl="1"/>
            <a:r>
              <a:rPr/>
              <a:t>PEFT</a:t>
            </a:r>
          </a:p>
          <a:p>
            <a:pPr lvl="1"/>
            <a:r>
              <a:rPr/>
              <a:t>adapters</a:t>
            </a:r>
          </a:p>
          <a:p>
            <a:pPr lvl="1"/>
            <a:r>
              <a:rPr/>
              <a:t>DreamBooth-style adaptation</a:t>
            </a:r>
          </a:p>
          <a:p>
            <a:pPr lvl="0"/>
            <a:r>
              <a:rPr/>
              <a:t>This path is powerful, but more ambitious.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599B7A-49D6-747B-0DC1-9468669DED68}"/>
              </a:ext>
            </a:extLst>
          </p:cNvPr>
          <p:cNvSpPr>
            <a:spLocks noGrp="1"/>
          </p:cNvSpPr>
          <p:nvPr>
            <p:ph hasCustomPrompt="1" type="title"/>
          </p:nvPr>
        </p:nvSpPr>
        <p:spPr>
          <a:xfrm>
            <a:off x="839787" y="363600"/>
            <a:ext cx="10515600" cy="13248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Path 4: Reinforcement Learning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2DFCD0-D549-8541-2E96-5E270DA67E5E}"/>
              </a:ext>
            </a:extLst>
          </p:cNvPr>
          <p:cNvSpPr>
            <a:spLocks noGrp="1"/>
          </p:cNvSpPr>
          <p:nvPr>
            <p:ph hasCustomPrompt="1" idx="2" sz="half" type="body"/>
          </p:nvPr>
        </p:nvSpPr>
        <p:spPr/>
        <p:txBody>
          <a:bodyPr/>
          <a:lstStyle/>
          <a:p>
            <a:pPr lvl="0"/>
            <a:r>
              <a:rPr/>
              <a:t>Reinforcement learning is about learning through:</a:t>
            </a:r>
          </a:p>
          <a:p>
            <a:pPr lvl="1"/>
            <a:r>
              <a:rPr/>
              <a:t>interaction</a:t>
            </a:r>
          </a:p>
          <a:p>
            <a:pPr lvl="1"/>
            <a:r>
              <a:rPr/>
              <a:t>reward</a:t>
            </a:r>
          </a:p>
          <a:p>
            <a:pPr lvl="1"/>
            <a:r>
              <a:rPr/>
              <a:t>trial and error</a:t>
            </a:r>
          </a:p>
          <a:p>
            <a:pPr lvl="0"/>
            <a:r>
              <a:rPr/>
              <a:t>In this course, the most realistic student projects are probably:</a:t>
            </a:r>
          </a:p>
          <a:p>
            <a:pPr lvl="1"/>
            <a:r>
              <a:rPr/>
              <a:t>games</a:t>
            </a:r>
          </a:p>
          <a:p>
            <a:pPr lvl="1"/>
            <a:r>
              <a:rPr/>
              <a:t>simulations</a:t>
            </a:r>
          </a:p>
          <a:p>
            <a:pPr lvl="1"/>
            <a:r>
              <a:rPr/>
              <a:t>simple control tasks</a:t>
            </a:r>
          </a:p>
          <a:p>
            <a:pPr lvl="0"/>
            <a:r>
              <a:rPr/>
              <a:t>Good tools:</a:t>
            </a:r>
          </a:p>
          <a:p>
            <a:pPr lvl="1"/>
            <a:r>
              <a:rPr/>
              <a:t>Gymnasium</a:t>
            </a:r>
          </a:p>
          <a:p>
            <a:pPr lvl="1"/>
            <a:r>
              <a:rPr/>
              <a:t>Stable-Baselines3</a:t>
            </a:r>
          </a:p>
          <a:p>
            <a:pPr lvl="1"/>
            <a:r>
              <a:rPr/>
              <a:t>TorchRL</a:t>
            </a:r>
          </a:p>
        </p:txBody>
      </p:sp>
      <p:pic>
        <p:nvPicPr>
          <p:cNvPr descr="media/chaining-llm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7848600" y="2819400"/>
            <a:ext cx="3797300" cy="3797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599B7A-49D6-747B-0DC1-9468669DED68}"/>
              </a:ext>
            </a:extLst>
          </p:cNvPr>
          <p:cNvSpPr>
            <a:spLocks noGrp="1"/>
          </p:cNvSpPr>
          <p:nvPr>
            <p:ph hasCustomPrompt="1" type="title"/>
          </p:nvPr>
        </p:nvSpPr>
        <p:spPr>
          <a:xfrm>
            <a:off x="839787" y="363600"/>
            <a:ext cx="10515600" cy="13248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Path 5: Edge AI and Deployment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2DFCD0-D549-8541-2E96-5E270DA67E5E}"/>
              </a:ext>
            </a:extLst>
          </p:cNvPr>
          <p:cNvSpPr>
            <a:spLocks noGrp="1"/>
          </p:cNvSpPr>
          <p:nvPr>
            <p:ph hasCustomPrompt="1" idx="2" sz="half" type="body"/>
          </p:nvPr>
        </p:nvSpPr>
        <p:spPr/>
        <p:txBody>
          <a:bodyPr/>
          <a:lstStyle/>
          <a:p>
            <a:pPr lvl="0"/>
            <a:r>
              <a:rPr/>
              <a:t>Some students may focus less on training and more on </a:t>
            </a:r>
            <a:r>
              <a:rPr b="1"/>
              <a:t>getting AI to run well on real hardware</a:t>
            </a:r>
            <a:r>
              <a:rPr/>
              <a:t>.</a:t>
            </a:r>
          </a:p>
          <a:p>
            <a:pPr lvl="0"/>
            <a:r>
              <a:rPr/>
              <a:t>That is a very valid project path.</a:t>
            </a:r>
          </a:p>
          <a:p>
            <a:pPr lvl="0"/>
            <a:r>
              <a:rPr/>
              <a:t>Good examples:</a:t>
            </a:r>
          </a:p>
          <a:p>
            <a:pPr lvl="1"/>
            <a:r>
              <a:rPr/>
              <a:t>deploy a vision model to an edge device</a:t>
            </a:r>
          </a:p>
          <a:p>
            <a:pPr lvl="1"/>
            <a:r>
              <a:rPr/>
              <a:t>compare runtimes</a:t>
            </a:r>
          </a:p>
          <a:p>
            <a:pPr lvl="1"/>
            <a:r>
              <a:rPr/>
              <a:t>optimize latency</a:t>
            </a:r>
          </a:p>
          <a:p>
            <a:pPr lvl="1"/>
            <a:r>
              <a:rPr/>
              <a:t>deploy a small local LLM</a:t>
            </a:r>
          </a:p>
          <a:p>
            <a:pPr lvl="0"/>
            <a:r>
              <a:rPr/>
              <a:t>Good tools:</a:t>
            </a:r>
          </a:p>
          <a:p>
            <a:pPr lvl="1"/>
            <a:r>
              <a:rPr/>
              <a:t>ONNX Runtime</a:t>
            </a:r>
          </a:p>
          <a:p>
            <a:pPr lvl="1"/>
            <a:r>
              <a:rPr/>
              <a:t>Jetson / JetPack / TensorRT</a:t>
            </a:r>
          </a:p>
          <a:p>
            <a:pPr lvl="1"/>
            <a:r>
              <a:rPr/>
              <a:t>Ollama or llama.cpp</a:t>
            </a:r>
          </a:p>
        </p:txBody>
      </p:sp>
      <p:pic>
        <p:nvPicPr>
          <p:cNvPr descr="media/edge-ai-hardware-reference.jp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7556500" y="3251200"/>
            <a:ext cx="4394200" cy="2933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AED9B2-1B96-B1B6-91DE-ED4F04AF08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/>
          <a:lstStyle/>
          <a:p>
            <a:pPr lvl="0" indent="0" marL="0">
              <a:buNone/>
            </a:pPr>
            <a:r>
              <a:rPr/>
              <a:t>Application Directions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1D1A22-93E7-53F5-3D1C-BA3AE5668A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Computer Vision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184A04-97C2-C83B-3F52-CA55E67682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Probably one of the easiest directions to demo well.</a:t>
            </a:r>
          </a:p>
          <a:p>
            <a:pPr lvl="0"/>
            <a:r>
              <a:rPr/>
              <a:t>Typical tasks:</a:t>
            </a:r>
          </a:p>
          <a:p>
            <a:pPr lvl="1"/>
            <a:r>
              <a:rPr/>
              <a:t>classification</a:t>
            </a:r>
          </a:p>
          <a:p>
            <a:pPr lvl="1"/>
            <a:r>
              <a:rPr/>
              <a:t>object detection</a:t>
            </a:r>
          </a:p>
          <a:p>
            <a:pPr lvl="1"/>
            <a:r>
              <a:rPr/>
              <a:t>segmentation</a:t>
            </a:r>
          </a:p>
          <a:p>
            <a:pPr lvl="1"/>
            <a:r>
              <a:rPr/>
              <a:t>visual inspection</a:t>
            </a:r>
          </a:p>
          <a:p>
            <a:pPr lvl="0"/>
            <a:r>
              <a:rPr/>
              <a:t>Strong frameworks:</a:t>
            </a:r>
          </a:p>
          <a:p>
            <a:pPr lvl="1"/>
            <a:r>
              <a:rPr/>
              <a:t>PyTorch</a:t>
            </a:r>
          </a:p>
          <a:p>
            <a:pPr lvl="1"/>
            <a:r>
              <a:rPr/>
              <a:t>Ultralytics YOLO</a:t>
            </a:r>
          </a:p>
          <a:p>
            <a:pPr lvl="1"/>
            <a:r>
              <a:rPr/>
              <a:t>RF-DETR</a:t>
            </a:r>
          </a:p>
          <a:p>
            <a:pPr lvl="1"/>
            <a:r>
              <a:rPr/>
              <a:t>OpenCV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1D1A22-93E7-53F5-3D1C-BA3AE5668A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Language Models, Chat Systems, and Text Apps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184A04-97C2-C83B-3F52-CA55E67682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Strong option if you want to build something useful quickly.</a:t>
            </a:r>
          </a:p>
          <a:p>
            <a:pPr lvl="0"/>
            <a:r>
              <a:rPr/>
              <a:t>Typical tasks:</a:t>
            </a:r>
          </a:p>
          <a:p>
            <a:pPr lvl="1"/>
            <a:r>
              <a:rPr/>
              <a:t>chatbot</a:t>
            </a:r>
          </a:p>
          <a:p>
            <a:pPr lvl="1"/>
            <a:r>
              <a:rPr/>
              <a:t>summarization</a:t>
            </a:r>
          </a:p>
          <a:p>
            <a:pPr lvl="1"/>
            <a:r>
              <a:rPr/>
              <a:t>classification</a:t>
            </a:r>
          </a:p>
          <a:p>
            <a:pPr lvl="1"/>
            <a:r>
              <a:rPr/>
              <a:t>tool calling</a:t>
            </a:r>
          </a:p>
          <a:p>
            <a:pPr lvl="1"/>
            <a:r>
              <a:rPr/>
              <a:t>text transformation</a:t>
            </a:r>
          </a:p>
          <a:p>
            <a:pPr lvl="0"/>
            <a:r>
              <a:rPr/>
              <a:t>Strong frameworks:</a:t>
            </a:r>
          </a:p>
          <a:p>
            <a:pPr lvl="1"/>
            <a:r>
              <a:rPr/>
              <a:t>Ollama</a:t>
            </a:r>
          </a:p>
          <a:p>
            <a:pPr lvl="1"/>
            <a:r>
              <a:rPr/>
              <a:t>Transformers</a:t>
            </a:r>
          </a:p>
          <a:p>
            <a:pPr lvl="1"/>
            <a:r>
              <a:rPr/>
              <a:t>Sentence Transformers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1D1A22-93E7-53F5-3D1C-BA3AE5668A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Multimodal and Document AI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184A04-97C2-C83B-3F52-CA55E67682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This is where language meets images, documents, or audio.</a:t>
            </a:r>
          </a:p>
          <a:p>
            <a:pPr lvl="0"/>
            <a:r>
              <a:rPr/>
              <a:t>Typical tasks:</a:t>
            </a:r>
          </a:p>
          <a:p>
            <a:pPr lvl="1"/>
            <a:r>
              <a:rPr/>
              <a:t>visual question answering</a:t>
            </a:r>
          </a:p>
          <a:p>
            <a:pPr lvl="1"/>
            <a:r>
              <a:rPr/>
              <a:t>document understanding</a:t>
            </a:r>
          </a:p>
          <a:p>
            <a:pPr lvl="1"/>
            <a:r>
              <a:rPr/>
              <a:t>receipt or invoice reading</a:t>
            </a:r>
          </a:p>
          <a:p>
            <a:pPr lvl="1"/>
            <a:r>
              <a:rPr/>
              <a:t>image-aware assistants</a:t>
            </a:r>
          </a:p>
          <a:p>
            <a:pPr lvl="0"/>
            <a:r>
              <a:rPr/>
              <a:t>Strong frameworks:</a:t>
            </a:r>
          </a:p>
          <a:p>
            <a:pPr lvl="1"/>
            <a:r>
              <a:rPr/>
              <a:t>Transformers</a:t>
            </a:r>
          </a:p>
          <a:p>
            <a:pPr lvl="1"/>
            <a:r>
              <a:rPr/>
              <a:t>vision-capable local models</a:t>
            </a:r>
          </a:p>
          <a:p>
            <a:pPr lvl="1"/>
            <a:r>
              <a:rPr/>
              <a:t>document tools such as docTR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1D1A22-93E7-53F5-3D1C-BA3AE5668A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Semantic Search, Retrieval, and Recommendation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184A04-97C2-C83B-3F52-CA55E67682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This is one of the most practical modern AI directions.</a:t>
            </a:r>
          </a:p>
          <a:p>
            <a:pPr lvl="0"/>
            <a:r>
              <a:rPr/>
              <a:t>It is based on embeddings:</a:t>
            </a:r>
          </a:p>
          <a:p>
            <a:pPr lvl="1"/>
            <a:r>
              <a:rPr/>
              <a:t>represent items as vectors</a:t>
            </a:r>
          </a:p>
          <a:p>
            <a:pPr lvl="1"/>
            <a:r>
              <a:rPr/>
              <a:t>compare them by meaning, not only by exact words</a:t>
            </a:r>
          </a:p>
          <a:p>
            <a:pPr lvl="0"/>
            <a:r>
              <a:rPr/>
              <a:t>Typical projects:</a:t>
            </a:r>
          </a:p>
          <a:p>
            <a:pPr lvl="1"/>
            <a:r>
              <a:rPr/>
              <a:t>semantic search</a:t>
            </a:r>
          </a:p>
          <a:p>
            <a:pPr lvl="1"/>
            <a:r>
              <a:rPr/>
              <a:t>retrieval-augmented chatbot</a:t>
            </a:r>
          </a:p>
          <a:p>
            <a:pPr lvl="1"/>
            <a:r>
              <a:rPr/>
              <a:t>recommendation app</a:t>
            </a:r>
          </a:p>
          <a:p>
            <a:pPr lvl="1"/>
            <a:r>
              <a:rPr/>
              <a:t>similar-item finder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599B7A-49D6-747B-0DC1-9468669DED68}"/>
              </a:ext>
            </a:extLst>
          </p:cNvPr>
          <p:cNvSpPr>
            <a:spLocks noGrp="1"/>
          </p:cNvSpPr>
          <p:nvPr>
            <p:ph hasCustomPrompt="1" type="title"/>
          </p:nvPr>
        </p:nvSpPr>
        <p:spPr>
          <a:xfrm>
            <a:off x="839787" y="363600"/>
            <a:ext cx="10515600" cy="13248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Speech, Audio, and Time-Series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2DFCD0-D549-8541-2E96-5E270DA67E5E}"/>
              </a:ext>
            </a:extLst>
          </p:cNvPr>
          <p:cNvSpPr>
            <a:spLocks noGrp="1"/>
          </p:cNvSpPr>
          <p:nvPr>
            <p:ph hasCustomPrompt="1" idx="2" sz="half" type="body"/>
          </p:nvPr>
        </p:nvSpPr>
        <p:spPr/>
        <p:txBody>
          <a:bodyPr/>
          <a:lstStyle/>
          <a:p>
            <a:pPr lvl="0"/>
            <a:r>
              <a:rPr/>
              <a:t>Good directions if you like signals rather than only text or images.</a:t>
            </a:r>
          </a:p>
          <a:p>
            <a:pPr lvl="0"/>
            <a:r>
              <a:rPr/>
              <a:t>Audio examples:</a:t>
            </a:r>
          </a:p>
          <a:p>
            <a:pPr lvl="1"/>
            <a:r>
              <a:rPr/>
              <a:t>speech-to-text</a:t>
            </a:r>
          </a:p>
          <a:p>
            <a:pPr lvl="1"/>
            <a:r>
              <a:rPr/>
              <a:t>text-to-speech</a:t>
            </a:r>
          </a:p>
          <a:p>
            <a:pPr lvl="1"/>
            <a:r>
              <a:rPr/>
              <a:t>sound classification</a:t>
            </a:r>
          </a:p>
          <a:p>
            <a:pPr lvl="0"/>
            <a:r>
              <a:rPr/>
              <a:t>Time-series examples:</a:t>
            </a:r>
          </a:p>
          <a:p>
            <a:pPr lvl="1"/>
            <a:r>
              <a:rPr/>
              <a:t>anomaly detection</a:t>
            </a:r>
          </a:p>
          <a:p>
            <a:pPr lvl="1"/>
            <a:r>
              <a:rPr/>
              <a:t>forecasting</a:t>
            </a:r>
          </a:p>
          <a:p>
            <a:pPr lvl="1"/>
            <a:r>
              <a:rPr/>
              <a:t>sensor monitoring</a:t>
            </a:r>
          </a:p>
        </p:txBody>
      </p:sp>
      <p:pic>
        <p:nvPicPr>
          <p:cNvPr descr="media/time-series-data-graph.jp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7556500" y="3073400"/>
            <a:ext cx="4394200" cy="3302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1D1A22-93E7-53F5-3D1C-BA3AE5668A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Generative Systems Are Cross-Cutting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184A04-97C2-C83B-3F52-CA55E67682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Generative AI is important, but it is not one single modality.</a:t>
            </a:r>
          </a:p>
          <a:p>
            <a:pPr lvl="0"/>
            <a:r>
              <a:rPr/>
              <a:t>It can appear in:</a:t>
            </a:r>
          </a:p>
          <a:p>
            <a:pPr lvl="1"/>
            <a:r>
              <a:rPr/>
              <a:t>text generation</a:t>
            </a:r>
          </a:p>
          <a:p>
            <a:pPr lvl="1"/>
            <a:r>
              <a:rPr/>
              <a:t>image generation</a:t>
            </a:r>
          </a:p>
          <a:p>
            <a:pPr lvl="1"/>
            <a:r>
              <a:rPr/>
              <a:t>speech generation</a:t>
            </a:r>
          </a:p>
          <a:p>
            <a:pPr lvl="1"/>
            <a:r>
              <a:rPr/>
              <a:t>music generation</a:t>
            </a:r>
          </a:p>
          <a:p>
            <a:pPr lvl="1"/>
            <a:r>
              <a:rPr/>
              <a:t>multimodal generation</a:t>
            </a:r>
          </a:p>
          <a:p>
            <a:pPr lvl="0"/>
            <a:r>
              <a:rPr/>
              <a:t>So instead of treating it as one separate box, think of it as a </a:t>
            </a:r>
            <a:r>
              <a:rPr b="1"/>
              <a:t>style of model behavior</a:t>
            </a:r>
            <a:r>
              <a:rPr/>
              <a:t> across several domains.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AED9B2-1B96-B1B6-91DE-ED4F04AF08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/>
          <a:lstStyle/>
          <a:p>
            <a:pPr lvl="0" indent="0" marL="0">
              <a:buNone/>
            </a:pPr>
            <a:r>
              <a:rPr/>
              <a:t>Framework Suggestions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1D1A22-93E7-53F5-3D1C-BA3AE5668A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Main AI Frameworks Worth Exploring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184A04-97C2-C83B-3F52-CA55E67682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PyTorch</a:t>
            </a:r>
          </a:p>
          <a:p>
            <a:pPr lvl="1"/>
            <a:r>
              <a:rPr/>
              <a:t>best for direct training or retraining</a:t>
            </a:r>
          </a:p>
          <a:p>
            <a:pPr lvl="0"/>
            <a:r>
              <a:rPr b="1"/>
              <a:t>Transformers</a:t>
            </a:r>
          </a:p>
          <a:p>
            <a:pPr lvl="1"/>
            <a:r>
              <a:rPr/>
              <a:t>best for pretrained language, multimodal, and speech models</a:t>
            </a:r>
          </a:p>
          <a:p>
            <a:pPr lvl="0"/>
            <a:r>
              <a:rPr b="1"/>
              <a:t>Diffusers</a:t>
            </a:r>
          </a:p>
          <a:p>
            <a:pPr lvl="1"/>
            <a:r>
              <a:rPr/>
              <a:t>best for image generation and related workflows</a:t>
            </a:r>
          </a:p>
          <a:p>
            <a:pPr lvl="0"/>
            <a:r>
              <a:rPr b="1"/>
              <a:t>Sentence Transformers</a:t>
            </a:r>
          </a:p>
          <a:p>
            <a:pPr lvl="1"/>
            <a:r>
              <a:rPr/>
              <a:t>best for embeddings, retrieval, and recommendation</a:t>
            </a:r>
          </a:p>
          <a:p>
            <a:pPr lvl="0"/>
            <a:r>
              <a:rPr b="1"/>
              <a:t>Stable-Baselines3</a:t>
            </a:r>
          </a:p>
          <a:p>
            <a:pPr lvl="1"/>
            <a:r>
              <a:rPr/>
              <a:t>easiest RL starting point</a:t>
            </a:r>
          </a:p>
          <a:p>
            <a:pPr lvl="0"/>
            <a:r>
              <a:rPr b="1"/>
              <a:t>ONNX Runtime</a:t>
            </a:r>
          </a:p>
          <a:p>
            <a:pPr lvl="1"/>
            <a:r>
              <a:rPr/>
              <a:t>strong deployment path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599B7A-49D6-747B-0DC1-9468669DED68}"/>
              </a:ext>
            </a:extLst>
          </p:cNvPr>
          <p:cNvSpPr>
            <a:spLocks noGrp="1"/>
          </p:cNvSpPr>
          <p:nvPr>
            <p:ph hasCustomPrompt="1" type="title"/>
          </p:nvPr>
        </p:nvSpPr>
        <p:spPr>
          <a:xfrm>
            <a:off x="839787" y="363600"/>
            <a:ext cx="10515600" cy="13248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Supporting Tools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2DFCD0-D549-8541-2E96-5E270DA67E5E}"/>
              </a:ext>
            </a:extLst>
          </p:cNvPr>
          <p:cNvSpPr>
            <a:spLocks noGrp="1"/>
          </p:cNvSpPr>
          <p:nvPr>
            <p:ph hasCustomPrompt="1" idx="2" sz="half" type="body"/>
          </p:nvPr>
        </p:nvSpPr>
        <p:spPr/>
        <p:txBody>
          <a:bodyPr/>
          <a:lstStyle/>
          <a:p>
            <a:pPr lvl="0"/>
            <a:r>
              <a:rPr/>
              <a:t>These are useful, but they are not the main AI choice:</a:t>
            </a:r>
          </a:p>
          <a:p>
            <a:pPr lvl="1"/>
            <a:r>
              <a:rPr/>
              <a:t>Gradio</a:t>
            </a:r>
          </a:p>
          <a:p>
            <a:pPr lvl="1"/>
            <a:r>
              <a:rPr/>
              <a:t>Streamlit</a:t>
            </a:r>
          </a:p>
          <a:p>
            <a:pPr lvl="1"/>
            <a:r>
              <a:rPr/>
              <a:t>FastAPI</a:t>
            </a:r>
          </a:p>
          <a:p>
            <a:pPr lvl="0"/>
            <a:r>
              <a:rPr/>
              <a:t>Most of you will probably build some kind of interface.</a:t>
            </a:r>
          </a:p>
          <a:p>
            <a:pPr lvl="0"/>
            <a:r>
              <a:rPr/>
              <a:t>Gradio is a very good default if you want to move fast.</a:t>
            </a:r>
          </a:p>
        </p:txBody>
      </p:sp>
      <p:pic>
        <p:nvPicPr>
          <p:cNvPr descr="media/frontend-user-interfaces.jp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7556500" y="3251200"/>
            <a:ext cx="4394200" cy="2933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1D1A22-93E7-53F5-3D1C-BA3AE5668A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My Recommendation If You Are Unsure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184A04-97C2-C83B-3F52-CA55E67682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Start with one of these:</a:t>
            </a:r>
          </a:p>
          <a:p>
            <a:pPr lvl="0"/>
            <a:r>
              <a:rPr/>
              <a:t>a computer vision app with YOLO or RF-DETR</a:t>
            </a:r>
          </a:p>
          <a:p>
            <a:pPr lvl="0"/>
            <a:r>
              <a:rPr/>
              <a:t>an LLM app with Ollama or Transformers</a:t>
            </a:r>
          </a:p>
          <a:p>
            <a:pPr lvl="0"/>
            <a:r>
              <a:rPr/>
              <a:t>a retrieval / recommendation app with Sentence Transformers</a:t>
            </a:r>
          </a:p>
          <a:p>
            <a:pPr lvl="0"/>
            <a:r>
              <a:rPr/>
              <a:t>a speech tool</a:t>
            </a:r>
          </a:p>
          <a:p>
            <a:pPr lvl="0"/>
            <a:r>
              <a:rPr/>
              <a:t>an edge deployment project with a ready model</a:t>
            </a:r>
          </a:p>
          <a:p>
            <a:pPr lvl="0" indent="0" marL="0">
              <a:buNone/>
            </a:pPr>
            <a:r>
              <a:rPr/>
              <a:t>These are usually easier to scope well than reinforcement learning or large-model fine-tuning.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AED9B2-1B96-B1B6-91DE-ED4F04AF08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/>
          <a:lstStyle/>
          <a:p>
            <a:pPr lvl="0" indent="0" marL="0">
              <a:buNone/>
            </a:pPr>
            <a:r>
              <a:rPr/>
              <a:t>Final Expectations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1D1A22-93E7-53F5-3D1C-BA3AE5668A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I Want to See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184A04-97C2-C83B-3F52-CA55E67682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a unique project</a:t>
            </a:r>
          </a:p>
          <a:p>
            <a:pPr lvl="0"/>
            <a:r>
              <a:rPr/>
              <a:t>a clear technical path</a:t>
            </a:r>
          </a:p>
          <a:p>
            <a:pPr lvl="0"/>
            <a:r>
              <a:rPr/>
              <a:t>one main framework stack</a:t>
            </a:r>
          </a:p>
          <a:p>
            <a:pPr lvl="0"/>
            <a:r>
              <a:rPr/>
              <a:t>visible effort</a:t>
            </a:r>
          </a:p>
          <a:p>
            <a:pPr lvl="0"/>
            <a:r>
              <a:rPr/>
              <a:t>a working demo or prototype</a:t>
            </a:r>
          </a:p>
          <a:p>
            <a:pPr lvl="0"/>
            <a:r>
              <a:rPr/>
              <a:t>understanding of the code and architecture</a:t>
            </a: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1D1A22-93E7-53F5-3D1C-BA3AE5668A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Final Message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184A04-97C2-C83B-3F52-CA55E67682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Deep learning is a very broad field.</a:t>
            </a:r>
          </a:p>
          <a:p>
            <a:pPr lvl="0"/>
            <a:r>
              <a:rPr/>
              <a:t>You do not need to master all of it in this course.</a:t>
            </a:r>
          </a:p>
          <a:p>
            <a:pPr lvl="0"/>
            <a:r>
              <a:rPr/>
              <a:t>But I want you to leave this course with:</a:t>
            </a:r>
          </a:p>
          <a:p>
            <a:pPr lvl="1"/>
            <a:r>
              <a:rPr/>
              <a:t>a better map of the field</a:t>
            </a:r>
          </a:p>
          <a:p>
            <a:pPr lvl="1"/>
            <a:r>
              <a:rPr/>
              <a:t>experience building one real AI system</a:t>
            </a:r>
          </a:p>
          <a:p>
            <a:pPr lvl="1"/>
            <a:r>
              <a:rPr/>
              <a:t>confidence that you can learn a new framework on your own</a:t>
            </a:r>
          </a:p>
        </p:txBody>
      </p:sp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1D1A22-93E7-53F5-3D1C-BA3AE5668A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To Do Next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184A04-97C2-C83B-3F52-CA55E67682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choose a technical path</a:t>
            </a:r>
          </a:p>
          <a:p>
            <a:pPr lvl="0"/>
            <a:r>
              <a:rPr/>
              <a:t>choose a framework stack</a:t>
            </a:r>
          </a:p>
          <a:p>
            <a:pPr lvl="0"/>
            <a:r>
              <a:rPr/>
              <a:t>sketch a project idea</a:t>
            </a:r>
          </a:p>
          <a:p>
            <a:pPr lvl="0"/>
            <a:r>
              <a:rPr/>
              <a:t>start building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</TotalTime>
  <Words>0</Words>
  <Application>Microsoft Office PowerPoint</Application>
  <PresentationFormat>Breedbeeld</PresentationFormat>
  <Paragraphs>0</Paragraphs>
  <Slides>1</Slides>
  <Notes>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3</vt:i4>
      </vt:variant>
      <vt:variant>
        <vt:lpstr>Thema</vt:lpstr>
      </vt:variant>
      <vt:variant>
        <vt:i4>1</vt:i4>
      </vt:variant>
      <vt:variant>
        <vt:lpstr>Diatitels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PowerPoint-presentatie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Deep Learning 2026: Project Paths, Frameworks, and Directions</dc:title>
  <dc:creator>Alexander D’hoore</dc:creator>
  <cp:keywords/>
  <dcterms:created xsi:type="dcterms:W3CDTF">2026-04-03T05:18:13Z</dcterms:created>
  <dcterms:modified xsi:type="dcterms:W3CDTF">2026-04-03T05:18:13Z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engines">
    <vt:lpwstr/>
  </property>
  <property fmtid="{D5CDD505-2E9C-101B-9397-08002B2CF9AE}" pid="6" name="header-includes">
    <vt:lpwstr/>
  </property>
  <property fmtid="{D5CDD505-2E9C-101B-9397-08002B2CF9AE}" pid="7" name="include-after">
    <vt:lpwstr/>
  </property>
  <property fmtid="{D5CDD505-2E9C-101B-9397-08002B2CF9AE}" pid="8" name="include-before">
    <vt:lpwstr/>
  </property>
  <property fmtid="{D5CDD505-2E9C-101B-9397-08002B2CF9AE}" pid="9" name="labels">
    <vt:lpwstr/>
  </property>
  <property fmtid="{D5CDD505-2E9C-101B-9397-08002B2CF9AE}" pid="10" name="monofont">
    <vt:lpwstr>Cousine</vt:lpwstr>
  </property>
  <property fmtid="{D5CDD505-2E9C-101B-9397-08002B2CF9AE}" pid="11" name="toc-title">
    <vt:lpwstr>Table of contents</vt:lpwstr>
  </property>
</Properties>
</file>