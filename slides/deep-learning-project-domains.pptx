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g" ContentType="image/jpeg"/>
  <Default Extension="svg" ContentType="image/svg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showSpecialPlsOnTitleSld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sldSz cx="12192000" cy="6858000"/>
  <p:notesSz cx="6858000" cy="9144000"/>
  <p:defaultTextStyle>
    <a:defPPr>
      <a:defRPr lang="en-BE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C80"/>
    <a:srgbClr val="FFCCCC"/>
    <a:srgbClr val="0563C1"/>
    <a:srgbClr val="6AA2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6859"/>
    <p:restoredTop sz="94660"/>
  </p:normalViewPr>
  <p:slideViewPr>
    <p:cSldViewPr snapToGrid="0">
      <p:cViewPr varScale="1">
        <p:scale>
          <a:sx d="100" n="68"/>
          <a:sy d="100" n="68"/>
        </p:scale>
        <p:origin x="65" y="1488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3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52" Type="http://schemas.openxmlformats.org/officeDocument/2006/relationships/theme" Target="theme/theme1.xml" /><Relationship Id="rId51" Type="http://schemas.openxmlformats.org/officeDocument/2006/relationships/viewProps" Target="viewProps.xml" /><Relationship Id="rId50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1180A-00E6-7D9D-632F-6C15EEA6BF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EAD69E-B528-087A-99AE-01C50EA81A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072901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D1A22-93E7-53F5-3D1C-BA3AE5668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84A04-97C2-C83B-3F52-CA55E6768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jdelijke aanduiding voor tekst 784">
            <a:extLst>
              <a:ext uri="{FF2B5EF4-FFF2-40B4-BE49-F238E27FC236}">
                <a16:creationId xmlns:a16="http://schemas.microsoft.com/office/drawing/2014/main" id="{D5F3149F-9ED1-9034-D500-737E6DBBE3B2}"/>
              </a:ext>
            </a:extLst>
          </p:cNvPr>
          <p:cNvSpPr txBox="1">
            <a:spLocks/>
          </p:cNvSpPr>
          <p:nvPr userDrawn="1"/>
        </p:nvSpPr>
        <p:spPr>
          <a:xfrm>
            <a:off x="138631" y="3722445"/>
            <a:ext cx="257369" cy="2340738"/>
          </a:xfrm>
          <a:prstGeom prst="rect">
            <a:avLst/>
          </a:prstGeom>
        </p:spPr>
        <p:txBody>
          <a:bodyPr vert="vert270" wrap="none" lIns="72000" tIns="72000" rIns="0" bIns="18000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defRPr sz="1800" b="1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266700" indent="-2571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2"/>
              </a:buClr>
              <a:buSzPct val="100000"/>
              <a:buFontTx/>
              <a:buBlip>
                <a:blip r:embed="rId2"/>
              </a:buBlip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1688" indent="-2682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2"/>
              </a:buClr>
              <a:buFont typeface="Systeemlettertype regulier"/>
              <a:buChar char="－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525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tabLst/>
              <a:defRPr sz="18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 sz="1200" kern="1200" noProof="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Bachelor EO: </a:t>
            </a:r>
            <a:r>
              <a:rPr lang="nl-NL" sz="1200" kern="1200" noProof="0" dirty="0" err="1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Deep</a:t>
            </a:r>
            <a:r>
              <a:rPr lang="nl-NL" sz="1200" kern="1200" noProof="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 Learning 2026</a:t>
            </a:r>
            <a:endParaRPr lang="en-GB" sz="1200" kern="1200" noProof="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ijdelijke aanduiding voor dianummer 5">
            <a:extLst>
              <a:ext uri="{FF2B5EF4-FFF2-40B4-BE49-F238E27FC236}">
                <a16:creationId xmlns:a16="http://schemas.microsoft.com/office/drawing/2014/main" id="{51E2B4CD-705E-E28A-043D-E3D4141B0EA5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0" y="6064591"/>
            <a:ext cx="396000" cy="396000"/>
          </a:xfrm>
          <a:prstGeom prst="rect">
            <a:avLst/>
          </a:prstGeom>
          <a:solidFill>
            <a:srgbClr val="E00020"/>
          </a:solidFill>
        </p:spPr>
        <p:txBody>
          <a:bodyPr vert="horz" wrap="none" lIns="36000" tIns="0" rIns="36000" bIns="0" rtlCol="0" anchor="ctr">
            <a:normAutofit/>
          </a:bodyPr>
          <a:lstStyle>
            <a:defPPr>
              <a:defRPr lang="nl-BE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4FAFF9E-DC53-4AC0-AF44-49258468423F}" type="slidenum">
              <a:rPr lang="nl-BE" sz="1200" kern="1200" noProof="0" smtClean="0">
                <a:solidFill>
                  <a:schemeClr val="bg1"/>
                </a:solidFill>
                <a:latin typeface="+mn-l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nl-BE" sz="1200" kern="1200" noProof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3939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99B7A-49D6-747B-0DC1-9468669DED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7" y="363600"/>
            <a:ext cx="10515600" cy="1324800"/>
          </a:xfrm>
        </p:spPr>
        <p:txBody>
          <a:bodyPr anchor="ctr" anchorCtr="0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E0C14-FF0F-5E43-2DC6-9C547A6489F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477031" y="4162230"/>
            <a:ext cx="2520000" cy="2520000"/>
          </a:xfrm>
        </p:spPr>
        <p:txBody>
          <a:bodyPr anchor="ctr" anchorCtr="1"/>
          <a:lstStyle>
            <a:lvl1pPr marL="0" indent="0">
              <a:buNone/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err="1"/>
              <a:t>Afbeelding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2DFCD0-D549-8541-2E96-5E270DA67E5E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1825200"/>
            <a:ext cx="10515600" cy="5032800"/>
          </a:xfrm>
        </p:spPr>
        <p:txBody>
          <a:bodyPr>
            <a:normAutofit/>
          </a:bodyPr>
          <a:lstStyle>
            <a:lvl1pPr marL="230400" indent="-230400">
              <a:buFont typeface="Arial" panose="020B0604020202020204" pitchFamily="34" charset="0"/>
              <a:buChar char="•"/>
              <a:defRPr sz="2800"/>
            </a:lvl1pPr>
            <a:lvl2pPr marL="687600" indent="-230400">
              <a:buFont typeface="Arial" panose="020B0604020202020204" pitchFamily="34" charset="0"/>
              <a:buChar char="•"/>
              <a:defRPr sz="2400"/>
            </a:lvl2pPr>
            <a:lvl3pPr marL="1144800" indent="-230400">
              <a:buFont typeface="Arial" panose="020B0604020202020204" pitchFamily="34" charset="0"/>
              <a:buChar char="•"/>
              <a:defRPr sz="2000"/>
            </a:lvl3pPr>
            <a:lvl4pPr marL="1602000" indent="-230400">
              <a:buFont typeface="Arial" panose="020B0604020202020204" pitchFamily="34" charset="0"/>
              <a:buChar char="•"/>
              <a:defRPr sz="1800"/>
            </a:lvl4pPr>
            <a:lvl5pPr marL="2059200" indent="-230400">
              <a:buFont typeface="Arial" panose="020B0604020202020204" pitchFamily="34" charset="0"/>
              <a:buChar char="•"/>
              <a:defRPr sz="18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ijdelijke aanduiding voor tekst 784">
            <a:extLst>
              <a:ext uri="{FF2B5EF4-FFF2-40B4-BE49-F238E27FC236}">
                <a16:creationId xmlns:a16="http://schemas.microsoft.com/office/drawing/2014/main" id="{970307B0-73D9-D11C-316B-6777ECF0D2BA}"/>
              </a:ext>
            </a:extLst>
          </p:cNvPr>
          <p:cNvSpPr txBox="1">
            <a:spLocks/>
          </p:cNvSpPr>
          <p:nvPr userDrawn="1"/>
        </p:nvSpPr>
        <p:spPr>
          <a:xfrm>
            <a:off x="138631" y="3722445"/>
            <a:ext cx="257369" cy="2340738"/>
          </a:xfrm>
          <a:prstGeom prst="rect">
            <a:avLst/>
          </a:prstGeom>
        </p:spPr>
        <p:txBody>
          <a:bodyPr vert="vert270" wrap="none" lIns="72000" tIns="72000" rIns="0" bIns="18000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defRPr sz="1800" b="1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266700" indent="-2571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2"/>
              </a:buClr>
              <a:buSzPct val="100000"/>
              <a:buFontTx/>
              <a:buBlip>
                <a:blip r:embed="rId2"/>
              </a:buBlip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1688" indent="-2682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2"/>
              </a:buClr>
              <a:buFont typeface="Systeemlettertype regulier"/>
              <a:buChar char="－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525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tabLst/>
              <a:defRPr sz="18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 sz="1200" kern="1200" noProof="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Bachelor EO: </a:t>
            </a:r>
            <a:r>
              <a:rPr lang="nl-NL" sz="1200" kern="1200" noProof="0" dirty="0" err="1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Deep</a:t>
            </a:r>
            <a:r>
              <a:rPr lang="nl-NL" sz="1200" kern="1200" noProof="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 Learning 2026</a:t>
            </a:r>
            <a:endParaRPr lang="en-GB" sz="1200" kern="1200" noProof="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73DBB08-0195-B986-BE61-A9537252B094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0" y="6064591"/>
            <a:ext cx="396000" cy="396000"/>
          </a:xfrm>
          <a:prstGeom prst="rect">
            <a:avLst/>
          </a:prstGeom>
          <a:solidFill>
            <a:srgbClr val="E00020"/>
          </a:solidFill>
        </p:spPr>
        <p:txBody>
          <a:bodyPr vert="horz" wrap="none" lIns="36000" tIns="0" rIns="36000" bIns="0" rtlCol="0" anchor="ctr">
            <a:normAutofit/>
          </a:bodyPr>
          <a:lstStyle>
            <a:defPPr>
              <a:defRPr lang="nl-BE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4FAFF9E-DC53-4AC0-AF44-49258468423F}" type="slidenum">
              <a:rPr lang="nl-BE" sz="1200" kern="1200" noProof="0" smtClean="0">
                <a:solidFill>
                  <a:schemeClr val="bg1"/>
                </a:solidFill>
                <a:latin typeface="+mn-l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nl-BE" sz="1200" kern="1200" noProof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4907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ED9B2-1B96-B1B6-91DE-ED4F04AF0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9DDB12-491F-5BB2-A956-E33E132610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86411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D76CE-B6CF-200E-B406-2A826BBC0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D79E1-C68F-9856-C448-E83CE4375B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60ACA9-74B9-A532-BD00-E94CB593C4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jdelijke aanduiding voor tekst 784">
            <a:extLst>
              <a:ext uri="{FF2B5EF4-FFF2-40B4-BE49-F238E27FC236}">
                <a16:creationId xmlns:a16="http://schemas.microsoft.com/office/drawing/2014/main" id="{5B848402-9A35-C374-0779-75E6DAE09B1B}"/>
              </a:ext>
            </a:extLst>
          </p:cNvPr>
          <p:cNvSpPr txBox="1">
            <a:spLocks/>
          </p:cNvSpPr>
          <p:nvPr userDrawn="1"/>
        </p:nvSpPr>
        <p:spPr>
          <a:xfrm>
            <a:off x="138631" y="3722445"/>
            <a:ext cx="257369" cy="2340738"/>
          </a:xfrm>
          <a:prstGeom prst="rect">
            <a:avLst/>
          </a:prstGeom>
        </p:spPr>
        <p:txBody>
          <a:bodyPr vert="vert270" wrap="none" lIns="72000" tIns="72000" rIns="0" bIns="18000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defRPr sz="1800" b="1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266700" indent="-2571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2"/>
              </a:buClr>
              <a:buSzPct val="100000"/>
              <a:buFontTx/>
              <a:buBlip>
                <a:blip r:embed="rId2"/>
              </a:buBlip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1688" indent="-2682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2"/>
              </a:buClr>
              <a:buFont typeface="Systeemlettertype regulier"/>
              <a:buChar char="－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525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tabLst/>
              <a:defRPr sz="18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 sz="1200" kern="1200" noProof="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Bachelor EO: </a:t>
            </a:r>
            <a:r>
              <a:rPr lang="nl-NL" sz="1200" kern="1200" noProof="0" dirty="0" err="1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Deep</a:t>
            </a:r>
            <a:r>
              <a:rPr lang="nl-NL" sz="1200" kern="1200" noProof="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 Learning 2026</a:t>
            </a:r>
            <a:endParaRPr lang="en-GB" sz="1200" kern="1200" noProof="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1D286DB-9732-00B8-1372-2180A0F03909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0" y="6064591"/>
            <a:ext cx="396000" cy="396000"/>
          </a:xfrm>
          <a:prstGeom prst="rect">
            <a:avLst/>
          </a:prstGeom>
          <a:solidFill>
            <a:srgbClr val="E00020"/>
          </a:solidFill>
        </p:spPr>
        <p:txBody>
          <a:bodyPr vert="horz" wrap="none" lIns="36000" tIns="0" rIns="36000" bIns="0" rtlCol="0" anchor="ctr">
            <a:normAutofit/>
          </a:bodyPr>
          <a:lstStyle>
            <a:defPPr>
              <a:defRPr lang="nl-BE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4FAFF9E-DC53-4AC0-AF44-49258468423F}" type="slidenum">
              <a:rPr lang="nl-BE" sz="1200" kern="1200" noProof="0" smtClean="0">
                <a:solidFill>
                  <a:schemeClr val="bg1"/>
                </a:solidFill>
                <a:latin typeface="+mn-l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nl-BE" sz="1200" kern="1200" noProof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0453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68494-3F5B-A1D0-0A02-45F1C4957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26EFF-9A9E-19C0-7132-C3B58885CA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5C4E49-4C5B-03A2-9E36-F0E474C679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2A5467-CD6D-2A35-FDAD-C9036280C5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0168C4-8D7F-60F0-6D0E-C6AF103427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jdelijke aanduiding voor tekst 784">
            <a:extLst>
              <a:ext uri="{FF2B5EF4-FFF2-40B4-BE49-F238E27FC236}">
                <a16:creationId xmlns:a16="http://schemas.microsoft.com/office/drawing/2014/main" id="{09C61AD4-E22B-5483-A410-EB512374EAAC}"/>
              </a:ext>
            </a:extLst>
          </p:cNvPr>
          <p:cNvSpPr txBox="1">
            <a:spLocks/>
          </p:cNvSpPr>
          <p:nvPr userDrawn="1"/>
        </p:nvSpPr>
        <p:spPr>
          <a:xfrm>
            <a:off x="138631" y="3722445"/>
            <a:ext cx="257369" cy="2340738"/>
          </a:xfrm>
          <a:prstGeom prst="rect">
            <a:avLst/>
          </a:prstGeom>
        </p:spPr>
        <p:txBody>
          <a:bodyPr vert="vert270" wrap="none" lIns="72000" tIns="72000" rIns="0" bIns="18000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defRPr sz="1800" b="1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266700" indent="-2571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2"/>
              </a:buClr>
              <a:buSzPct val="100000"/>
              <a:buFontTx/>
              <a:buBlip>
                <a:blip r:embed="rId2"/>
              </a:buBlip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1688" indent="-2682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2"/>
              </a:buClr>
              <a:buFont typeface="Systeemlettertype regulier"/>
              <a:buChar char="－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525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tabLst/>
              <a:defRPr sz="18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 sz="1200" kern="1200" noProof="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Bachelor EO: </a:t>
            </a:r>
            <a:r>
              <a:rPr lang="nl-NL" sz="1200" kern="1200" noProof="0" dirty="0" err="1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Deep</a:t>
            </a:r>
            <a:r>
              <a:rPr lang="nl-NL" sz="1200" kern="1200" noProof="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 Learning 2026</a:t>
            </a:r>
            <a:endParaRPr lang="en-GB" sz="1200" kern="1200" noProof="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Tijdelijke aanduiding voor dianummer 5">
            <a:extLst>
              <a:ext uri="{FF2B5EF4-FFF2-40B4-BE49-F238E27FC236}">
                <a16:creationId xmlns:a16="http://schemas.microsoft.com/office/drawing/2014/main" id="{256193B6-1431-5F48-9875-C3361455ACDD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0" y="6064591"/>
            <a:ext cx="396000" cy="396000"/>
          </a:xfrm>
          <a:prstGeom prst="rect">
            <a:avLst/>
          </a:prstGeom>
          <a:solidFill>
            <a:srgbClr val="E00020"/>
          </a:solidFill>
        </p:spPr>
        <p:txBody>
          <a:bodyPr vert="horz" wrap="none" lIns="36000" tIns="0" rIns="36000" bIns="0" rtlCol="0" anchor="ctr">
            <a:normAutofit/>
          </a:bodyPr>
          <a:lstStyle>
            <a:defPPr>
              <a:defRPr lang="nl-BE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4FAFF9E-DC53-4AC0-AF44-49258468423F}" type="slidenum">
              <a:rPr lang="nl-BE" sz="1200" kern="1200" noProof="0" smtClean="0">
                <a:solidFill>
                  <a:schemeClr val="bg1"/>
                </a:solidFill>
                <a:latin typeface="+mn-l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nl-BE" sz="1200" kern="1200" noProof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1725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784">
            <a:extLst>
              <a:ext uri="{FF2B5EF4-FFF2-40B4-BE49-F238E27FC236}">
                <a16:creationId xmlns:a16="http://schemas.microsoft.com/office/drawing/2014/main" id="{79CD12EE-C134-F278-2980-F9DD3F86D6BB}"/>
              </a:ext>
            </a:extLst>
          </p:cNvPr>
          <p:cNvSpPr txBox="1">
            <a:spLocks/>
          </p:cNvSpPr>
          <p:nvPr userDrawn="1"/>
        </p:nvSpPr>
        <p:spPr>
          <a:xfrm>
            <a:off x="138631" y="3722445"/>
            <a:ext cx="257369" cy="2340738"/>
          </a:xfrm>
          <a:prstGeom prst="rect">
            <a:avLst/>
          </a:prstGeom>
        </p:spPr>
        <p:txBody>
          <a:bodyPr vert="vert270" wrap="none" lIns="72000" tIns="72000" rIns="0" bIns="18000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defRPr sz="1800" b="1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266700" indent="-2571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2"/>
              </a:buClr>
              <a:buSzPct val="100000"/>
              <a:buFontTx/>
              <a:buBlip>
                <a:blip r:embed="rId2"/>
              </a:buBlip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1688" indent="-2682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2"/>
              </a:buClr>
              <a:buFont typeface="Systeemlettertype regulier"/>
              <a:buChar char="－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525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tabLst/>
              <a:defRPr sz="18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 sz="1200" kern="1200" noProof="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Bachelor EO: </a:t>
            </a:r>
            <a:r>
              <a:rPr lang="nl-NL" sz="1200" kern="1200" noProof="0" dirty="0" err="1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Deep</a:t>
            </a:r>
            <a:r>
              <a:rPr lang="nl-NL" sz="1200" kern="1200" noProof="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 Learning 2026</a:t>
            </a:r>
            <a:endParaRPr lang="en-GB" sz="1200" kern="1200" noProof="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Tijdelijke aanduiding voor dianummer 5">
            <a:extLst>
              <a:ext uri="{FF2B5EF4-FFF2-40B4-BE49-F238E27FC236}">
                <a16:creationId xmlns:a16="http://schemas.microsoft.com/office/drawing/2014/main" id="{33B0AF44-CC27-05A6-79EA-DA747A996CBD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0" y="6064591"/>
            <a:ext cx="396000" cy="396000"/>
          </a:xfrm>
          <a:prstGeom prst="rect">
            <a:avLst/>
          </a:prstGeom>
          <a:solidFill>
            <a:srgbClr val="E00020"/>
          </a:solidFill>
        </p:spPr>
        <p:txBody>
          <a:bodyPr vert="horz" wrap="none" lIns="36000" tIns="0" rIns="36000" bIns="0" rtlCol="0" anchor="ctr">
            <a:normAutofit/>
          </a:bodyPr>
          <a:lstStyle>
            <a:defPPr>
              <a:defRPr lang="nl-BE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4FAFF9E-DC53-4AC0-AF44-49258468423F}" type="slidenum">
              <a:rPr lang="nl-BE" sz="1200" kern="1200" noProof="0" smtClean="0">
                <a:solidFill>
                  <a:schemeClr val="bg1"/>
                </a:solidFill>
                <a:latin typeface="+mn-l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nl-BE" sz="1200" kern="1200" noProof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0730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theme/theme1.xml" Type="http://schemas.openxmlformats.org/officeDocument/2006/relationships/theme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media/image2.png" Type="http://schemas.openxmlformats.org/officeDocument/2006/relationships/image" /><Relationship Id="rId4" Target="../slideLayouts/slideLayout4.xml" Type="http://schemas.openxmlformats.org/officeDocument/2006/relationships/slideLayout" /><Relationship Id="rId9" Target="../media/image1.svg" Type="http://schemas.openxmlformats.org/officeDocument/2006/relationships/image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8329E0-B3CA-8E19-BC3B-715665FAF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dirty="0"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98CA2F-F634-E1A9-CED8-8DDF6111C544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4"/>
            <a:ext cx="10515600" cy="5032375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9921E047-E6D9-B995-3435-56287CF518F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4050" y="0"/>
            <a:ext cx="400050" cy="1981200"/>
          </a:xfrm>
          <a:prstGeom prst="rect">
            <a:avLst/>
          </a:prstGeom>
        </p:spPr>
      </p:pic>
      <p:pic>
        <p:nvPicPr>
          <p:cNvPr descr="Text, logo  Description automatically generated" id="6" name="Picture 8">
            <a:extLst>
              <a:ext uri="{FF2B5EF4-FFF2-40B4-BE49-F238E27FC236}">
                <a16:creationId xmlns:a16="http://schemas.microsoft.com/office/drawing/2014/main" id="{900B9CDA-58D9-66C6-71FA-EB0940BC1D98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9626" y="131494"/>
            <a:ext cx="1308347" cy="46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176082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6" r:id="rId3"/>
    <p:sldLayoutId id="2147483651" r:id="rId4"/>
    <p:sldLayoutId id="2147483652" r:id="rId5"/>
    <p:sldLayoutId id="2147483653" r:id="rId6"/>
    <p:sldLayoutId id="2147483655" r:id="rId7"/>
  </p:sldLayoutIdLst>
  <p:hf hdr="0"/>
  <p:txStyles>
    <p:titleStyle>
      <a:lvl1pPr algn="l" defTabSz="914377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377" eaLnBrk="1" hangingPunct="1" indent="-228594" latinLnBrk="0" marL="228594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377" eaLnBrk="1" hangingPunct="1" indent="-228594" latinLnBrk="0" marL="685783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377" eaLnBrk="1" hangingPunct="1" indent="-228594" latinLnBrk="0" marL="1142971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377" eaLnBrk="1" hangingPunct="1" indent="-228594" latinLnBrk="0" marL="160016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377" eaLnBrk="1" hangingPunct="1" indent="-228594" latinLnBrk="0" marL="2057349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377" eaLnBrk="1" hangingPunct="1" indent="-228594" latinLnBrk="0" marL="2514537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377" eaLnBrk="1" hangingPunct="1" indent="-228594" latinLnBrk="0" marL="2971726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377" eaLnBrk="1" hangingPunct="1" indent="-228594" latinLnBrk="0" marL="3428914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377" eaLnBrk="1" hangingPunct="1" indent="-228594" latinLnBrk="0" marL="3886103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algn="l" defTabSz="914377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377" eaLnBrk="1" hangingPunct="1" latinLnBrk="0" marL="457189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377" eaLnBrk="1" hangingPunct="1" latinLnBrk="0" marL="914377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377" eaLnBrk="1" hangingPunct="1" latinLnBrk="0" marL="1371566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377" eaLnBrk="1" hangingPunct="1" latinLnBrk="0" marL="1828754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377" eaLnBrk="1" hangingPunct="1" latinLnBrk="0" marL="2285943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377" eaLnBrk="1" hangingPunct="1" latinLnBrk="0" marL="2743131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377" eaLnBrk="1" hangingPunct="1" latinLnBrk="0" marL="320032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377" eaLnBrk="1" hangingPunct="1" latinLnBrk="0" marL="3657509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Relationship Id="rId2" Type="http://schemas.openxmlformats.org/officeDocument/2006/relationships/image" Target="../media/image4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Relationship Id="rId2" Type="http://schemas.openxmlformats.org/officeDocument/2006/relationships/image" Target="../media/image5.jpg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1180A-00E6-7D9D-632F-6C15EEA6BF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Deep Learning 2026: Technical Paths and Application Domains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EAD69E-B528-087A-99AE-01C50EA81A9C}"/>
              </a:ext>
            </a:extLst>
          </p:cNvPr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pPr lvl="0" indent="0" marL="0">
              <a:buNone/>
            </a:pPr>
            <a:r>
              <a:rPr/>
              <a:t>Alexander D’hoore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ED9B2-1B96-B1B6-91DE-ED4F04AF0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/>
          <a:lstStyle/>
          <a:p>
            <a:pPr lvl="0" indent="0" marL="0">
              <a:buNone/>
            </a:pPr>
            <a:r>
              <a:rPr/>
              <a:t>Welcome to Deep Learning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99B7A-49D6-747B-0DC1-9468669DED68}"/>
              </a:ext>
            </a:extLst>
          </p:cNvPr>
          <p:cNvSpPr>
            <a:spLocks noGrp="1"/>
          </p:cNvSpPr>
          <p:nvPr>
            <p:ph hasCustomPrompt="1" type="title"/>
          </p:nvPr>
        </p:nvSpPr>
        <p:spPr>
          <a:xfrm>
            <a:off x="839787" y="363600"/>
            <a:ext cx="10515600" cy="1324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Today’s Goal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2DFCD0-D549-8541-2E96-5E270DA67E5E}"/>
              </a:ext>
            </a:extLst>
          </p:cNvPr>
          <p:cNvSpPr>
            <a:spLocks noGrp="1"/>
          </p:cNvSpPr>
          <p:nvPr>
            <p:ph hasCustomPrompt="1" idx="2" sz="half" type="body"/>
          </p:nvPr>
        </p:nvSpPr>
        <p:spPr/>
        <p:txBody>
          <a:bodyPr/>
          <a:lstStyle/>
          <a:p>
            <a:pPr lvl="0"/>
            <a:r>
              <a:rPr/>
              <a:t>This short introduction gives you a </a:t>
            </a:r>
            <a:r>
              <a:rPr b="1"/>
              <a:t>map of the field</a:t>
            </a:r>
            <a:r>
              <a:rPr/>
              <a:t>.</a:t>
            </a:r>
          </a:p>
          <a:p>
            <a:pPr lvl="0"/>
            <a:r>
              <a:rPr/>
              <a:t>Not deep theory, but a practical overview of what kinds of deep-learning systems you could build.</a:t>
            </a:r>
          </a:p>
          <a:p>
            <a:pPr lvl="0"/>
            <a:r>
              <a:rPr/>
              <a:t>The main goal today:</a:t>
            </a:r>
          </a:p>
          <a:p>
            <a:pPr lvl="1"/>
            <a:r>
              <a:rPr/>
              <a:t>choose a technical path</a:t>
            </a:r>
          </a:p>
          <a:p>
            <a:pPr lvl="1"/>
            <a:r>
              <a:rPr/>
              <a:t>choose an application domain</a:t>
            </a:r>
          </a:p>
          <a:p>
            <a:pPr lvl="1"/>
            <a:r>
              <a:rPr/>
              <a:t>start shaping your own project</a:t>
            </a:r>
          </a:p>
        </p:txBody>
      </p:sp>
      <p:pic>
        <p:nvPicPr>
          <p:cNvPr descr="media/generative-ai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474200" y="4152900"/>
            <a:ext cx="2514600" cy="2514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D1A22-93E7-53F5-3D1C-BA3AE5668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This Part of the Course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84A04-97C2-C83B-3F52-CA55E6768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 course is short:</a:t>
            </a:r>
          </a:p>
          <a:p>
            <a:pPr lvl="1"/>
            <a:r>
              <a:rPr/>
              <a:t>4 lessons of 4 hours</a:t>
            </a:r>
          </a:p>
          <a:p>
            <a:pPr lvl="1"/>
            <a:r>
              <a:rPr/>
              <a:t>plus the exam</a:t>
            </a:r>
          </a:p>
          <a:p>
            <a:pPr lvl="0"/>
            <a:r>
              <a:rPr/>
              <a:t>The first lesson already introduced you to practical generative AI.</a:t>
            </a:r>
          </a:p>
          <a:p>
            <a:pPr lvl="0"/>
            <a:r>
              <a:rPr/>
              <a:t>The remaining lessons are mainly for building your own project.</a:t>
            </a:r>
          </a:p>
          <a:p>
            <a:pPr lvl="0"/>
            <a:r>
              <a:rPr/>
              <a:t>So today is about </a:t>
            </a:r>
            <a:r>
              <a:rPr b="1"/>
              <a:t>choosing a good path and domain</a:t>
            </a:r>
            <a:r>
              <a:rPr/>
              <a:t>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D1A22-93E7-53F5-3D1C-BA3AE5668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You Will Be Evaluated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84A04-97C2-C83B-3F52-CA55E6768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You will build a </a:t>
            </a:r>
            <a:r>
              <a:rPr b="1"/>
              <a:t>unique AI application or prototype</a:t>
            </a:r>
            <a:r>
              <a:rPr/>
              <a:t>.</a:t>
            </a:r>
          </a:p>
          <a:p>
            <a:pPr lvl="0"/>
            <a:r>
              <a:rPr/>
              <a:t>At the exam, you will:</a:t>
            </a:r>
          </a:p>
          <a:p>
            <a:pPr lvl="1"/>
            <a:r>
              <a:rPr/>
              <a:t>present what you built</a:t>
            </a:r>
          </a:p>
          <a:p>
            <a:pPr lvl="1"/>
            <a:r>
              <a:rPr/>
              <a:t>explain your design choices</a:t>
            </a:r>
          </a:p>
          <a:p>
            <a:pPr lvl="1"/>
            <a:r>
              <a:rPr/>
              <a:t>defend your code and architecture</a:t>
            </a:r>
          </a:p>
          <a:p>
            <a:pPr lvl="0"/>
            <a:r>
              <a:rPr/>
              <a:t>You may use AI tools while building.</a:t>
            </a:r>
          </a:p>
          <a:p>
            <a:pPr lvl="0"/>
            <a:r>
              <a:rPr/>
              <a:t>But during the exam, </a:t>
            </a:r>
            <a:r>
              <a:rPr b="1"/>
              <a:t>you</a:t>
            </a:r>
            <a:r>
              <a:rPr/>
              <a:t> must understand what your system does.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ED9B2-1B96-B1B6-91DE-ED4F04AF0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/>
          <a:lstStyle/>
          <a:p>
            <a:pPr lvl="0" indent="0" marL="0">
              <a:buNone/>
            </a:pPr>
            <a:r>
              <a:rPr/>
              <a:t>How to Choose a Project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D1A22-93E7-53F5-3D1C-BA3AE5668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First Choose a Technical Path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84A04-97C2-C83B-3F52-CA55E6768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For many projects, it helps to choose a </a:t>
            </a:r>
            <a:r>
              <a:rPr b="1"/>
              <a:t>technical path</a:t>
            </a:r>
            <a:r>
              <a:rPr/>
              <a:t> early.</a:t>
            </a:r>
          </a:p>
          <a:p>
            <a:pPr lvl="0"/>
            <a:r>
              <a:rPr/>
              <a:t>Other students will start from a domain or tool they already find interesting.</a:t>
            </a:r>
          </a:p>
          <a:p>
            <a:pPr lvl="0"/>
            <a:r>
              <a:rPr/>
              <a:t>In this course, the main paths are:</a:t>
            </a:r>
          </a:p>
          <a:p>
            <a:pPr lvl="1"/>
            <a:r>
              <a:rPr/>
              <a:t>train or retrain your own model</a:t>
            </a:r>
          </a:p>
          <a:p>
            <a:pPr lvl="1"/>
            <a:r>
              <a:rPr/>
              <a:t>build with pretrained foundation models</a:t>
            </a:r>
          </a:p>
          <a:p>
            <a:pPr lvl="1"/>
            <a:r>
              <a:rPr/>
              <a:t>adapt / fine-tune large pretrained models</a:t>
            </a:r>
          </a:p>
          <a:p>
            <a:pPr lvl="1"/>
            <a:r>
              <a:rPr/>
              <a:t>reinforcement learning</a:t>
            </a:r>
          </a:p>
          <a:p>
            <a:pPr lvl="1"/>
            <a:r>
              <a:rPr/>
              <a:t>edge AI and deployment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D1A22-93E7-53F5-3D1C-BA3AE5668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Then Choose an Application Domain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84A04-97C2-C83B-3F52-CA55E6768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After that, choose the domain where you want to apply that path.</a:t>
            </a:r>
          </a:p>
          <a:p>
            <a:pPr lvl="0"/>
            <a:r>
              <a:rPr/>
              <a:t>Good domains include:</a:t>
            </a:r>
          </a:p>
          <a:p>
            <a:pPr lvl="1"/>
            <a:r>
              <a:rPr/>
              <a:t>computer vision</a:t>
            </a:r>
          </a:p>
          <a:p>
            <a:pPr lvl="1"/>
            <a:r>
              <a:rPr/>
              <a:t>text / LLM apps</a:t>
            </a:r>
          </a:p>
          <a:p>
            <a:pPr lvl="1"/>
            <a:r>
              <a:rPr/>
              <a:t>multimodal and document AI</a:t>
            </a:r>
          </a:p>
          <a:p>
            <a:pPr lvl="1"/>
            <a:r>
              <a:rPr/>
              <a:t>semantic search / retrieval</a:t>
            </a:r>
          </a:p>
          <a:p>
            <a:pPr lvl="1"/>
            <a:r>
              <a:rPr/>
              <a:t>recommendation systems</a:t>
            </a:r>
          </a:p>
          <a:p>
            <a:pPr lvl="1"/>
            <a:r>
              <a:rPr/>
              <a:t>speech and audio</a:t>
            </a:r>
          </a:p>
          <a:p>
            <a:pPr lvl="1"/>
            <a:r>
              <a:rPr/>
              <a:t>time-series and sensor signals</a:t>
            </a:r>
          </a:p>
          <a:p>
            <a:pPr lvl="1"/>
            <a:r>
              <a:rPr/>
              <a:t>3D / depth / geometry</a:t>
            </a:r>
          </a:p>
          <a:p>
            <a:pPr lvl="0"/>
            <a:r>
              <a:rPr/>
              <a:t>Reinforcement learning and edge deployment also have dedicated notes in </a:t>
            </a:r>
            <a:r>
              <a:rPr>
                <a:latin typeface="Cousine"/>
              </a:rPr>
              <a:t>domains/</a:t>
            </a:r>
            <a:r>
              <a:rPr/>
              <a:t>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D1A22-93E7-53F5-3D1C-BA3AE5668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Good Project Formula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84A04-97C2-C83B-3F52-CA55E6768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Input -&gt; AI model -&gt; useful output -&gt; interface</a:t>
            </a:r>
          </a:p>
          <a:p>
            <a:pPr lvl="0" indent="0" marL="0">
              <a:buNone/>
            </a:pPr>
            <a:r>
              <a:rPr/>
              <a:t>Examples:</a:t>
            </a:r>
          </a:p>
          <a:p>
            <a:pPr lvl="0"/>
            <a:r>
              <a:rPr/>
              <a:t>image -&gt; detector -&gt; labels and boxes -&gt; web app</a:t>
            </a:r>
          </a:p>
          <a:p>
            <a:pPr lvl="0"/>
            <a:r>
              <a:rPr/>
              <a:t>user question + documents -&gt; retrieval + LLM -&gt; answer -&gt; chat UI</a:t>
            </a:r>
          </a:p>
          <a:p>
            <a:pPr lvl="0"/>
            <a:r>
              <a:rPr/>
              <a:t>speech -&gt; transcription -&gt; summary -&gt; web app</a:t>
            </a:r>
          </a:p>
          <a:p>
            <a:pPr lvl="0"/>
            <a:r>
              <a:rPr/>
              <a:t>sensor data -&gt; anomaly detector -&gt; warning -&gt; dashboard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D1A22-93E7-53F5-3D1C-BA3AE5668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Scope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84A04-97C2-C83B-3F52-CA55E6768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Pick something interesting, but also feasible.</a:t>
            </a:r>
          </a:p>
          <a:p>
            <a:pPr lvl="0"/>
            <a:r>
              <a:rPr/>
              <a:t>A good project usually has:</a:t>
            </a:r>
          </a:p>
          <a:p>
            <a:pPr lvl="1"/>
            <a:r>
              <a:rPr/>
              <a:t>one clear problem</a:t>
            </a:r>
          </a:p>
          <a:p>
            <a:pPr lvl="1"/>
            <a:r>
              <a:rPr/>
              <a:t>one main framework</a:t>
            </a:r>
          </a:p>
          <a:p>
            <a:pPr lvl="1"/>
            <a:r>
              <a:rPr/>
              <a:t>one demoable result</a:t>
            </a:r>
          </a:p>
          <a:p>
            <a:pPr lvl="0"/>
            <a:r>
              <a:rPr/>
              <a:t>Avoid choosing:</a:t>
            </a:r>
          </a:p>
          <a:p>
            <a:pPr lvl="1"/>
            <a:r>
              <a:rPr/>
              <a:t>the hardest model training path</a:t>
            </a:r>
          </a:p>
          <a:p>
            <a:pPr lvl="1"/>
            <a:r>
              <a:rPr/>
              <a:t>and the hardest deployment path</a:t>
            </a:r>
          </a:p>
          <a:p>
            <a:pPr lvl="1"/>
            <a:r>
              <a:rPr/>
              <a:t>at the same time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ED9B2-1B96-B1B6-91DE-ED4F04AF0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Technical Paths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D1A22-93E7-53F5-3D1C-BA3AE5668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Path 1: Train or Retrain Your Own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84A04-97C2-C83B-3F52-CA55E6768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This is the classical deep-learning workflow.</a:t>
            </a:r>
          </a:p>
          <a:p>
            <a:pPr lvl="0"/>
            <a:r>
              <a:rPr/>
              <a:t>Typical flow: dataset, model, training, evaluation, deployment.</a:t>
            </a:r>
          </a:p>
          <a:p>
            <a:pPr lvl="0"/>
            <a:r>
              <a:rPr/>
              <a:t>You may start from random weights or pretrained weights.</a:t>
            </a:r>
          </a:p>
          <a:p>
            <a:pPr lvl="0"/>
            <a:r>
              <a:rPr/>
              <a:t>Example: continue training MobileNet or YOLO on your own data.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D1A22-93E7-53F5-3D1C-BA3AE5668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Path 1: Why You Might Choose 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84A04-97C2-C83B-3F52-CA55E6768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Good if you want to understand how model training really works.</a:t>
            </a:r>
          </a:p>
          <a:p>
            <a:pPr lvl="0"/>
            <a:r>
              <a:rPr/>
              <a:t>Strong domains: vision, audio, time-series, classification.</a:t>
            </a:r>
          </a:p>
          <a:p>
            <a:pPr lvl="0"/>
            <a:r>
              <a:rPr/>
              <a:t>Good tools: PyTorch, torchvision, torchaudio, YOLO, RF-DETR.</a:t>
            </a:r>
          </a:p>
          <a:p>
            <a:pPr lvl="0"/>
            <a:r>
              <a:rPr/>
              <a:t>Good projects: classifier, detector, anomaly detector.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D1A22-93E7-53F5-3D1C-BA3AE5668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Path 2: Build With Pretrained Foundation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84A04-97C2-C83B-3F52-CA55E6768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Here the main work is </a:t>
            </a:r>
            <a:r>
              <a:rPr b="1"/>
              <a:t>building around a model</a:t>
            </a:r>
            <a:r>
              <a:rPr/>
              <a:t>, not training it yourself.</a:t>
            </a:r>
          </a:p>
          <a:p>
            <a:pPr lvl="0"/>
            <a:r>
              <a:rPr/>
              <a:t>You choose an existing model and turn it into an application.</a:t>
            </a:r>
          </a:p>
          <a:p>
            <a:pPr lvl="0"/>
            <a:r>
              <a:rPr/>
              <a:t>This is one of the most common modern AI workflows.</a:t>
            </a:r>
          </a:p>
          <a:p>
            <a:pPr lvl="0"/>
            <a:r>
              <a:rPr/>
              <a:t>Strong path for text, speech, multimodal systems, and generation.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D1A22-93E7-53F5-3D1C-BA3AE5668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Path 2: Where To Explore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84A04-97C2-C83B-3F52-CA55E6768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Hugging Face is one of the best places to browse models, tasks, and examples.</a:t>
            </a:r>
          </a:p>
          <a:p>
            <a:pPr lvl="0"/>
            <a:r>
              <a:rPr/>
              <a:t>Model cards help you understand what a model can do.</a:t>
            </a:r>
          </a:p>
          <a:p>
            <a:pPr lvl="0"/>
            <a:r>
              <a:rPr/>
              <a:t>Good tools: Transformers, Diffusers, Sentence Transformers, Ollama.</a:t>
            </a:r>
          </a:p>
          <a:p>
            <a:pPr lvl="0"/>
            <a:r>
              <a:rPr/>
              <a:t>Good projects: chatbot, speech tool, image generator, document assistant.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D1A22-93E7-53F5-3D1C-BA3AE5668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Path 3: Adapt or Fine-Tune Large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84A04-97C2-C83B-3F52-CA55E6768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Choose this path if you want to adapt a large pretrained model to your own task or style.</a:t>
            </a:r>
          </a:p>
          <a:p>
            <a:pPr lvl="0"/>
            <a:r>
              <a:rPr/>
              <a:t>This is more than prompting, but less than full retraining.</a:t>
            </a:r>
          </a:p>
          <a:p>
            <a:pPr lvl="0"/>
            <a:r>
              <a:rPr/>
              <a:t>For large models, retraining everything is often too expensive.</a:t>
            </a:r>
          </a:p>
          <a:p>
            <a:pPr lvl="0"/>
            <a:r>
              <a:rPr/>
              <a:t>Instead, you adapt part of the model.</a:t>
            </a:r>
          </a:p>
          <a:p>
            <a:pPr lvl="0"/>
            <a:r>
              <a:rPr/>
              <a:t>Common methods: LoRA, PEFT, adapters.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D1A22-93E7-53F5-3D1C-BA3AE5668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Path 3: Concrete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84A04-97C2-C83B-3F52-CA55E6768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Example: fine-tune an image model on your own face or visual style.</a:t>
            </a:r>
          </a:p>
          <a:p>
            <a:pPr lvl="0"/>
            <a:r>
              <a:rPr/>
              <a:t>Example: adapt an LLM to a narrow domain.</a:t>
            </a:r>
          </a:p>
          <a:p>
            <a:pPr lvl="0"/>
            <a:r>
              <a:rPr/>
              <a:t>Good tools: Transformers training stack, PEFT, Diffusers, PyTorch.</a:t>
            </a:r>
          </a:p>
          <a:p>
            <a:pPr lvl="0"/>
            <a:r>
              <a:rPr/>
              <a:t>This path is powerful if you want to go beyond simple inference.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D1A22-93E7-53F5-3D1C-BA3AE5668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Path 4: Reinforcement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84A04-97C2-C83B-3F52-CA55E6768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This path is very different from supervised learning.</a:t>
            </a:r>
          </a:p>
          <a:p>
            <a:pPr lvl="0"/>
            <a:r>
              <a:rPr/>
              <a:t>The model learns by interacting with an environment.</a:t>
            </a:r>
          </a:p>
          <a:p>
            <a:pPr lvl="0"/>
            <a:r>
              <a:rPr/>
              <a:t>It tries actions, gets rewards, and improves over time.</a:t>
            </a:r>
          </a:p>
          <a:p>
            <a:pPr lvl="0"/>
            <a:r>
              <a:rPr/>
              <a:t>The environment can be a game, simulation, or physical system.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D1A22-93E7-53F5-3D1C-BA3AE5668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Path 4: Why It Is Interesting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84A04-97C2-C83B-3F52-CA55E6768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 system discovers strategies by itself instead of copying labels.</a:t>
            </a:r>
          </a:p>
          <a:p>
            <a:pPr lvl="0"/>
            <a:r>
              <a:rPr/>
              <a:t>Good projects: game agent, simulator, small control task.</a:t>
            </a:r>
          </a:p>
          <a:p>
            <a:pPr lvl="0"/>
            <a:r>
              <a:rPr/>
              <a:t>Good tools: Gymnasium, Stable-Baselines3, TorchRL.</a:t>
            </a:r>
          </a:p>
          <a:p>
            <a:pPr lvl="0"/>
            <a:r>
              <a:rPr/>
              <a:t>This path works best when you keep the environment and goal simple.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D1A22-93E7-53F5-3D1C-BA3AE5668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Path 5: Edge AI and Deployment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84A04-97C2-C83B-3F52-CA55E6768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Most of you will run models on your GPU server.</a:t>
            </a:r>
          </a:p>
          <a:p>
            <a:pPr lvl="0"/>
            <a:r>
              <a:rPr/>
              <a:t>Edge AI means running the model somewhere else locally.</a:t>
            </a:r>
          </a:p>
          <a:p>
            <a:pPr lvl="0"/>
            <a:r>
              <a:rPr/>
              <a:t>Examples: laptop, Jetson, Raspberry Pi, embedded device.</a:t>
            </a:r>
          </a:p>
          <a:p>
            <a:pPr lvl="0"/>
            <a:r>
              <a:rPr/>
              <a:t>The challenge is export, optimization, latency, and runtime choice.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D1A22-93E7-53F5-3D1C-BA3AE5668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Path 5: Why It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84A04-97C2-C83B-3F52-CA55E6768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Good if you like systems, deployment, and performance engineering.</a:t>
            </a:r>
          </a:p>
          <a:p>
            <a:pPr lvl="0"/>
            <a:r>
              <a:rPr/>
              <a:t>You can focus on making an existing model run well.</a:t>
            </a:r>
          </a:p>
          <a:p>
            <a:pPr lvl="0"/>
            <a:r>
              <a:rPr/>
              <a:t>Good tools: ONNX Runtime, JetPack, TensorRT, Ollama, llama.cpp.</a:t>
            </a:r>
          </a:p>
          <a:p>
            <a:pPr lvl="0"/>
            <a:r>
              <a:rPr/>
              <a:t>Strong examples: deploy vision, compare runtimes, run a local LLM.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ED9B2-1B96-B1B6-91DE-ED4F04AF0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/>
          <a:lstStyle/>
          <a:p>
            <a:pPr lvl="0" indent="0" marL="0">
              <a:buNone/>
            </a:pPr>
            <a:r>
              <a:rPr/>
              <a:t>Application Domains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D1A22-93E7-53F5-3D1C-BA3AE5668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Application Domains Mean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84A04-97C2-C83B-3F52-CA55E6768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 technical path tells you </a:t>
            </a:r>
            <a:r>
              <a:rPr b="1"/>
              <a:t>how</a:t>
            </a:r>
            <a:r>
              <a:rPr/>
              <a:t> you work with models.</a:t>
            </a:r>
          </a:p>
          <a:p>
            <a:pPr lvl="0"/>
            <a:r>
              <a:rPr/>
              <a:t>An application domain tells you </a:t>
            </a:r>
            <a:r>
              <a:rPr b="1"/>
              <a:t>what kind of data or problem</a:t>
            </a:r>
            <a:r>
              <a:rPr/>
              <a:t> you work on.</a:t>
            </a:r>
          </a:p>
          <a:p>
            <a:pPr lvl="0"/>
            <a:r>
              <a:rPr/>
              <a:t>One domain can combine with several paths.</a:t>
            </a:r>
          </a:p>
          <a:p>
            <a:pPr lvl="0"/>
            <a:r>
              <a:rPr/>
              <a:t>Example: computer vision can use Path 1, Path 2, or Path 5.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D1A22-93E7-53F5-3D1C-BA3AE5668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Domain 1: Computer Vision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84A04-97C2-C83B-3F52-CA55E6768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AI for images and video.</a:t>
            </a:r>
          </a:p>
          <a:p>
            <a:pPr lvl="0"/>
            <a:r>
              <a:rPr/>
              <a:t>Typical tasks:</a:t>
            </a:r>
          </a:p>
          <a:p>
            <a:pPr lvl="1"/>
            <a:r>
              <a:rPr/>
              <a:t>classification</a:t>
            </a:r>
          </a:p>
          <a:p>
            <a:pPr lvl="1"/>
            <a:r>
              <a:rPr/>
              <a:t>object detection</a:t>
            </a:r>
          </a:p>
          <a:p>
            <a:pPr lvl="1"/>
            <a:r>
              <a:rPr/>
              <a:t>segmentation</a:t>
            </a:r>
          </a:p>
          <a:p>
            <a:pPr lvl="1"/>
            <a:r>
              <a:rPr/>
              <a:t>depth estimation</a:t>
            </a:r>
          </a:p>
          <a:p>
            <a:pPr lvl="1"/>
            <a:r>
              <a:rPr/>
              <a:t>keypoint detection</a:t>
            </a:r>
          </a:p>
          <a:p>
            <a:pPr lvl="0"/>
            <a:r>
              <a:rPr/>
              <a:t>Good tools:</a:t>
            </a:r>
          </a:p>
          <a:p>
            <a:pPr lvl="1"/>
            <a:r>
              <a:rPr/>
              <a:t>PyTorch</a:t>
            </a:r>
          </a:p>
          <a:p>
            <a:pPr lvl="1"/>
            <a:r>
              <a:rPr/>
              <a:t>YOLO</a:t>
            </a:r>
          </a:p>
          <a:p>
            <a:pPr lvl="1"/>
            <a:r>
              <a:rPr/>
              <a:t>RF-DETR</a:t>
            </a:r>
          </a:p>
          <a:p>
            <a:pPr lvl="1"/>
            <a:r>
              <a:rPr/>
              <a:t>OpenCV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D1A22-93E7-53F5-3D1C-BA3AE5668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Computer Vision: Why It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84A04-97C2-C83B-3F52-CA55E6768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This is an established field, but still extremely powerful.</a:t>
            </a:r>
          </a:p>
          <a:p>
            <a:pPr lvl="0"/>
            <a:r>
              <a:rPr/>
              <a:t>It solves many real industrial problems very well.</a:t>
            </a:r>
          </a:p>
          <a:p>
            <a:pPr lvl="0"/>
            <a:r>
              <a:rPr/>
              <a:t>It also works very well on the GPU hardware you have.</a:t>
            </a:r>
          </a:p>
          <a:p>
            <a:pPr lvl="0"/>
            <a:r>
              <a:rPr/>
              <a:t>Strong examples: inspection, counting, tracking, defect detection.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D1A22-93E7-53F5-3D1C-BA3AE5668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Domain 2: Language Models and Text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84A04-97C2-C83B-3F52-CA55E6768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This domain is mostly about pretrained or adapted models.</a:t>
            </a:r>
          </a:p>
          <a:p>
            <a:pPr lvl="0"/>
            <a:r>
              <a:rPr/>
              <a:t>Training your own LLM from scratch is usually not realistic.</a:t>
            </a:r>
          </a:p>
          <a:p>
            <a:pPr lvl="0"/>
            <a:r>
              <a:rPr/>
              <a:t>Typical tasks:</a:t>
            </a:r>
          </a:p>
          <a:p>
            <a:pPr lvl="1"/>
            <a:r>
              <a:rPr/>
              <a:t>chatbot</a:t>
            </a:r>
          </a:p>
          <a:p>
            <a:pPr lvl="1"/>
            <a:r>
              <a:rPr/>
              <a:t>summarization</a:t>
            </a:r>
          </a:p>
          <a:p>
            <a:pPr lvl="1"/>
            <a:r>
              <a:rPr/>
              <a:t>classification</a:t>
            </a:r>
          </a:p>
          <a:p>
            <a:pPr lvl="1"/>
            <a:r>
              <a:rPr/>
              <a:t>question answering</a:t>
            </a:r>
          </a:p>
          <a:p>
            <a:pPr lvl="1"/>
            <a:r>
              <a:rPr/>
              <a:t>tool calling</a:t>
            </a:r>
          </a:p>
          <a:p>
            <a:pPr lvl="0"/>
            <a:r>
              <a:rPr/>
              <a:t>Good tools:</a:t>
            </a:r>
          </a:p>
          <a:p>
            <a:pPr lvl="1"/>
            <a:r>
              <a:rPr/>
              <a:t>Ollama</a:t>
            </a:r>
          </a:p>
          <a:p>
            <a:pPr lvl="1"/>
            <a:r>
              <a:rPr/>
              <a:t>Transformers</a:t>
            </a:r>
          </a:p>
          <a:p>
            <a:pPr lvl="1"/>
            <a:r>
              <a:rPr/>
              <a:t>Sentence Transformers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D1A22-93E7-53F5-3D1C-BA3AE5668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Language Models: Tool Calling and Apps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84A04-97C2-C83B-3F52-CA55E6768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Tool calling means the model can decide when to use another tool.</a:t>
            </a:r>
          </a:p>
          <a:p>
            <a:pPr lvl="0"/>
            <a:r>
              <a:rPr/>
              <a:t>Example tools:</a:t>
            </a:r>
          </a:p>
          <a:p>
            <a:pPr lvl="1"/>
            <a:r>
              <a:rPr/>
              <a:t>search</a:t>
            </a:r>
          </a:p>
          <a:p>
            <a:pPr lvl="1"/>
            <a:r>
              <a:rPr/>
              <a:t>calculator</a:t>
            </a:r>
          </a:p>
          <a:p>
            <a:pPr lvl="1"/>
            <a:r>
              <a:rPr/>
              <a:t>database lookup</a:t>
            </a:r>
          </a:p>
          <a:p>
            <a:pPr lvl="1"/>
            <a:r>
              <a:rPr/>
              <a:t>API call</a:t>
            </a:r>
          </a:p>
          <a:p>
            <a:pPr lvl="0"/>
            <a:r>
              <a:rPr/>
              <a:t>That can become a whole project by itself.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D1A22-93E7-53F5-3D1C-BA3AE5668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Domain 3: Multimodal and Document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84A04-97C2-C83B-3F52-CA55E6768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This is where language meets images, documents, or audio.</a:t>
            </a:r>
          </a:p>
          <a:p>
            <a:pPr lvl="0"/>
            <a:r>
              <a:rPr/>
              <a:t>Typical tasks:</a:t>
            </a:r>
          </a:p>
          <a:p>
            <a:pPr lvl="1"/>
            <a:r>
              <a:rPr/>
              <a:t>visual question answering</a:t>
            </a:r>
          </a:p>
          <a:p>
            <a:pPr lvl="1"/>
            <a:r>
              <a:rPr/>
              <a:t>document understanding</a:t>
            </a:r>
          </a:p>
          <a:p>
            <a:pPr lvl="1"/>
            <a:r>
              <a:rPr/>
              <a:t>receipt or invoice reading</a:t>
            </a:r>
          </a:p>
          <a:p>
            <a:pPr lvl="1"/>
            <a:r>
              <a:rPr/>
              <a:t>image-aware assistants</a:t>
            </a:r>
          </a:p>
          <a:p>
            <a:pPr lvl="0"/>
            <a:r>
              <a:rPr/>
              <a:t>Good tools:</a:t>
            </a:r>
          </a:p>
          <a:p>
            <a:pPr lvl="1"/>
            <a:r>
              <a:rPr/>
              <a:t>Transformers</a:t>
            </a:r>
          </a:p>
          <a:p>
            <a:pPr lvl="1"/>
            <a:r>
              <a:rPr/>
              <a:t>vision-capable local models</a:t>
            </a:r>
          </a:p>
          <a:p>
            <a:pPr lvl="1"/>
            <a:r>
              <a:rPr/>
              <a:t>document tools such as docTR</a:t>
            </a:r>
          </a:p>
          <a:p>
            <a:pPr lvl="0"/>
            <a:r>
              <a:rPr/>
              <a:t>You already saw a small example of this in the generative AI workshop.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D1A22-93E7-53F5-3D1C-BA3AE5668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Multimodal: Example Projects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84A04-97C2-C83B-3F52-CA55E6768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upload an image and ask questions about it</a:t>
            </a:r>
          </a:p>
          <a:p>
            <a:pPr lvl="0"/>
            <a:r>
              <a:rPr/>
              <a:t>analyze a receipt or invoice</a:t>
            </a:r>
          </a:p>
          <a:p>
            <a:pPr lvl="0"/>
            <a:r>
              <a:rPr/>
              <a:t>build a document question-answering tool</a:t>
            </a:r>
          </a:p>
          <a:p>
            <a:pPr lvl="0"/>
            <a:r>
              <a:rPr/>
              <a:t>combine voice input with image understanding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D1A22-93E7-53F5-3D1C-BA3AE5668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Domain 4: Semantic Search and Retrieval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84A04-97C2-C83B-3F52-CA55E6768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This domain is based on embeddings.</a:t>
            </a:r>
          </a:p>
          <a:p>
            <a:pPr lvl="0"/>
            <a:r>
              <a:rPr/>
              <a:t>An embedding is a vector representation of text, image, or audio.</a:t>
            </a:r>
          </a:p>
          <a:p>
            <a:pPr lvl="0"/>
            <a:r>
              <a:rPr/>
              <a:t>Similar meaning leads to nearby vectors.</a:t>
            </a:r>
          </a:p>
          <a:p>
            <a:pPr lvl="0"/>
            <a:r>
              <a:rPr/>
              <a:t>Typical projects:</a:t>
            </a:r>
          </a:p>
          <a:p>
            <a:pPr lvl="1"/>
            <a:r>
              <a:rPr/>
              <a:t>semantic search</a:t>
            </a:r>
          </a:p>
          <a:p>
            <a:pPr lvl="1"/>
            <a:r>
              <a:rPr/>
              <a:t>retrieval-augmented chatbot</a:t>
            </a:r>
          </a:p>
          <a:p>
            <a:pPr lvl="1"/>
            <a:r>
              <a:rPr/>
              <a:t>similar-item finder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D1A22-93E7-53F5-3D1C-BA3AE5668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Semantic Search: Why It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84A04-97C2-C83B-3F52-CA55E6768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You do not search only by exact words.</a:t>
            </a:r>
          </a:p>
          <a:p>
            <a:pPr lvl="0"/>
            <a:r>
              <a:rPr/>
              <a:t>You search by meaning.</a:t>
            </a:r>
          </a:p>
          <a:p>
            <a:pPr lvl="0"/>
            <a:r>
              <a:rPr/>
              <a:t>This is useful for:</a:t>
            </a:r>
          </a:p>
          <a:p>
            <a:pPr lvl="1"/>
            <a:r>
              <a:rPr/>
              <a:t>documents</a:t>
            </a:r>
          </a:p>
          <a:p>
            <a:pPr lvl="1"/>
            <a:r>
              <a:rPr/>
              <a:t>notes</a:t>
            </a:r>
          </a:p>
          <a:p>
            <a:pPr lvl="1"/>
            <a:r>
              <a:rPr/>
              <a:t>images</a:t>
            </a:r>
          </a:p>
          <a:p>
            <a:pPr lvl="1"/>
            <a:r>
              <a:rPr/>
              <a:t>other media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D1A22-93E7-53F5-3D1C-BA3AE5668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RAG: Retrieve First, Then Generate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84A04-97C2-C83B-3F52-CA55E6768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Retrieval-augmented generation is part of this domain.</a:t>
            </a:r>
          </a:p>
          <a:p>
            <a:pPr lvl="0"/>
            <a:r>
              <a:rPr/>
              <a:t>First retrieve the most relevant documents.</a:t>
            </a:r>
          </a:p>
          <a:p>
            <a:pPr lvl="0"/>
            <a:r>
              <a:rPr/>
              <a:t>Then send that context to the language model.</a:t>
            </a:r>
          </a:p>
          <a:p>
            <a:pPr lvl="0"/>
            <a:r>
              <a:rPr/>
              <a:t>Then generate the answer with better grounding.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D1A22-93E7-53F5-3D1C-BA3AE5668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Domain 5: Recommendation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84A04-97C2-C83B-3F52-CA55E6768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This domain is closely related to embeddings, but the user experience is different from search.</a:t>
            </a:r>
          </a:p>
          <a:p>
            <a:pPr lvl="0"/>
            <a:r>
              <a:rPr/>
              <a:t>Typical projects:</a:t>
            </a:r>
          </a:p>
          <a:p>
            <a:pPr lvl="1"/>
            <a:r>
              <a:rPr/>
              <a:t>music or media recommender</a:t>
            </a:r>
          </a:p>
          <a:p>
            <a:pPr lvl="1"/>
            <a:r>
              <a:rPr/>
              <a:t>product recommendation demo</a:t>
            </a:r>
          </a:p>
          <a:p>
            <a:pPr lvl="1"/>
            <a:r>
              <a:rPr/>
              <a:t>similar-item recommender</a:t>
            </a:r>
          </a:p>
          <a:p>
            <a:pPr lvl="1"/>
            <a:r>
              <a:rPr/>
              <a:t>recommendation UI based on embeddings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D1A22-93E7-53F5-3D1C-BA3AE5668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Recommendation Systems: Why They Matter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84A04-97C2-C83B-3F52-CA55E6768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Recommendation is everywhere on the modern web.</a:t>
            </a:r>
          </a:p>
          <a:p>
            <a:pPr lvl="0"/>
            <a:r>
              <a:rPr/>
              <a:t>Modern recommenders often use embeddings and ranking.</a:t>
            </a:r>
          </a:p>
          <a:p>
            <a:pPr lvl="0"/>
            <a:r>
              <a:rPr/>
              <a:t>This can be a very strong project if you like music, media, or product ideas.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D1A22-93E7-53F5-3D1C-BA3AE5668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Domain 6: Speech and Audio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84A04-97C2-C83B-3F52-CA55E6768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This domain can use Path 1, Path 2, or Path 3.</a:t>
            </a:r>
          </a:p>
          <a:p>
            <a:pPr lvl="0"/>
            <a:r>
              <a:rPr/>
              <a:t>Typical tasks:</a:t>
            </a:r>
          </a:p>
          <a:p>
            <a:pPr lvl="1"/>
            <a:r>
              <a:rPr/>
              <a:t>speech-to-text</a:t>
            </a:r>
          </a:p>
          <a:p>
            <a:pPr lvl="1"/>
            <a:r>
              <a:rPr/>
              <a:t>text-to-speech</a:t>
            </a:r>
          </a:p>
          <a:p>
            <a:pPr lvl="1"/>
            <a:r>
              <a:rPr/>
              <a:t>sound classification</a:t>
            </a:r>
          </a:p>
          <a:p>
            <a:pPr lvl="1"/>
            <a:r>
              <a:rPr/>
              <a:t>music generation</a:t>
            </a:r>
          </a:p>
          <a:p>
            <a:pPr lvl="1"/>
            <a:r>
              <a:rPr/>
              <a:t>voice adaptation</a:t>
            </a:r>
          </a:p>
          <a:p>
            <a:pPr lvl="0"/>
            <a:r>
              <a:rPr/>
              <a:t>Good tools:</a:t>
            </a:r>
          </a:p>
          <a:p>
            <a:pPr lvl="1"/>
            <a:r>
              <a:rPr/>
              <a:t>Whisper</a:t>
            </a:r>
          </a:p>
          <a:p>
            <a:pPr lvl="1"/>
            <a:r>
              <a:rPr/>
              <a:t>torchaudio</a:t>
            </a:r>
          </a:p>
          <a:p>
            <a:pPr lvl="1"/>
            <a:r>
              <a:rPr/>
              <a:t>Transformers</a:t>
            </a:r>
          </a:p>
          <a:p>
            <a:pPr lvl="1"/>
            <a:r>
              <a:rPr/>
              <a:t>TTS libraries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D1A22-93E7-53F5-3D1C-BA3AE5668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Speech and Audio: Example Projects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84A04-97C2-C83B-3F52-CA55E6768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voice note transcriber</a:t>
            </a:r>
          </a:p>
          <a:p>
            <a:pPr lvl="0"/>
            <a:r>
              <a:rPr/>
              <a:t>speech-based chatbot</a:t>
            </a:r>
          </a:p>
          <a:p>
            <a:pPr lvl="0"/>
            <a:r>
              <a:rPr/>
              <a:t>sound-event detector</a:t>
            </a:r>
          </a:p>
          <a:p>
            <a:pPr lvl="0"/>
            <a:r>
              <a:rPr/>
              <a:t>text-to-speech assistant</a:t>
            </a:r>
          </a:p>
          <a:p>
            <a:pPr lvl="0"/>
            <a:r>
              <a:rPr/>
              <a:t>music generation demo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D1A22-93E7-53F5-3D1C-BA3AE5668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Domain 7: Time-Series and Sensor Signals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84A04-97C2-C83B-3F52-CA55E6768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This is more industrial and less flashy, but still important.</a:t>
            </a:r>
          </a:p>
          <a:p>
            <a:pPr lvl="0"/>
            <a:r>
              <a:rPr/>
              <a:t>Typical tasks:</a:t>
            </a:r>
          </a:p>
          <a:p>
            <a:pPr lvl="1"/>
            <a:r>
              <a:rPr/>
              <a:t>anomaly detection</a:t>
            </a:r>
          </a:p>
          <a:p>
            <a:pPr lvl="1"/>
            <a:r>
              <a:rPr/>
              <a:t>forecasting</a:t>
            </a:r>
          </a:p>
          <a:p>
            <a:pPr lvl="1"/>
            <a:r>
              <a:rPr/>
              <a:t>sensor monitoring</a:t>
            </a:r>
          </a:p>
          <a:p>
            <a:pPr lvl="0"/>
            <a:r>
              <a:rPr/>
              <a:t>It is especially relevant if you already have an interesting dataset.</a:t>
            </a:r>
          </a:p>
          <a:p>
            <a:pPr lvl="0"/>
            <a:r>
              <a:rPr/>
              <a:t>For this course, it is possible, but probably less attractive than image, text, or audio.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D1A22-93E7-53F5-3D1C-BA3AE5668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Domain 8: 3D, Depth, and Geometry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84A04-97C2-C83B-3F52-CA55E6768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This is a more niche domain, but it exists.</a:t>
            </a:r>
          </a:p>
          <a:p>
            <a:pPr lvl="0"/>
            <a:r>
              <a:rPr/>
              <a:t>Examples:</a:t>
            </a:r>
          </a:p>
          <a:p>
            <a:pPr lvl="1"/>
            <a:r>
              <a:rPr/>
              <a:t>depth estimation</a:t>
            </a:r>
          </a:p>
          <a:p>
            <a:pPr lvl="1"/>
            <a:r>
              <a:rPr/>
              <a:t>image-to-3D</a:t>
            </a:r>
          </a:p>
          <a:p>
            <a:pPr lvl="1"/>
            <a:r>
              <a:rPr/>
              <a:t>text-to-3D</a:t>
            </a:r>
          </a:p>
          <a:p>
            <a:pPr lvl="1"/>
            <a:r>
              <a:rPr/>
              <a:t>3D generation workflows</a:t>
            </a:r>
          </a:p>
          <a:p>
            <a:pPr lvl="0"/>
            <a:r>
              <a:rPr/>
              <a:t>Some interesting pretrained models already exist here.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D1A22-93E7-53F5-3D1C-BA3AE5668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Paths and Domains Can Be Combined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84A04-97C2-C83B-3F52-CA55E6768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Computer vision can use Path 1, Path 2, or Path 5.</a:t>
            </a:r>
          </a:p>
          <a:p>
            <a:pPr lvl="0"/>
            <a:r>
              <a:rPr/>
              <a:t>Language models usually fit Path 2 or Path 3.</a:t>
            </a:r>
          </a:p>
          <a:p>
            <a:pPr lvl="0"/>
            <a:r>
              <a:rPr/>
              <a:t>Audio can use Path 1, Path 2, or Path 3.</a:t>
            </a:r>
          </a:p>
          <a:p>
            <a:pPr lvl="0"/>
            <a:r>
              <a:rPr/>
              <a:t>Edge deployment can apply to many domains.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ED9B2-1B96-B1B6-91DE-ED4F04AF0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/>
          <a:lstStyle/>
          <a:p>
            <a:pPr lvl="0" indent="0" marL="0">
              <a:buNone/>
            </a:pPr>
            <a:r>
              <a:rPr/>
              <a:t>Framework Suggestions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D1A22-93E7-53F5-3D1C-BA3AE5668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Frameworks Depend on the Domain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84A04-97C2-C83B-3F52-CA55E6768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You do not need to memorize every framework from this talk.</a:t>
            </a:r>
          </a:p>
          <a:p>
            <a:pPr lvl="0"/>
            <a:r>
              <a:rPr/>
              <a:t>The exact framework depends on the domain you choose.</a:t>
            </a:r>
          </a:p>
          <a:p>
            <a:pPr lvl="0"/>
            <a:r>
              <a:rPr/>
              <a:t>After choosing a domain, read the matching notes and official docs.</a:t>
            </a:r>
          </a:p>
          <a:p>
            <a:pPr lvl="0"/>
            <a:r>
              <a:rPr/>
              <a:t>A few big names you will see often:</a:t>
            </a:r>
          </a:p>
          <a:p>
            <a:pPr lvl="1"/>
            <a:r>
              <a:rPr/>
              <a:t>PyTorch</a:t>
            </a:r>
          </a:p>
          <a:p>
            <a:pPr lvl="1"/>
            <a:r>
              <a:rPr/>
              <a:t>Transformers</a:t>
            </a:r>
          </a:p>
          <a:p>
            <a:pPr lvl="1"/>
            <a:r>
              <a:rPr/>
              <a:t>Sentence Transformers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99B7A-49D6-747B-0DC1-9468669DED68}"/>
              </a:ext>
            </a:extLst>
          </p:cNvPr>
          <p:cNvSpPr>
            <a:spLocks noGrp="1"/>
          </p:cNvSpPr>
          <p:nvPr>
            <p:ph hasCustomPrompt="1" type="title"/>
          </p:nvPr>
        </p:nvSpPr>
        <p:spPr>
          <a:xfrm>
            <a:off x="839787" y="363600"/>
            <a:ext cx="10515600" cy="1324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Supporting Tools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2DFCD0-D549-8541-2E96-5E270DA67E5E}"/>
              </a:ext>
            </a:extLst>
          </p:cNvPr>
          <p:cNvSpPr>
            <a:spLocks noGrp="1"/>
          </p:cNvSpPr>
          <p:nvPr>
            <p:ph hasCustomPrompt="1" idx="2" sz="half" type="body"/>
          </p:nvPr>
        </p:nvSpPr>
        <p:spPr/>
        <p:txBody>
          <a:bodyPr/>
          <a:lstStyle/>
          <a:p>
            <a:pPr lvl="0"/>
            <a:r>
              <a:rPr/>
              <a:t>These are useful, but they are not the main AI choice:</a:t>
            </a:r>
          </a:p>
          <a:p>
            <a:pPr lvl="1"/>
            <a:r>
              <a:rPr/>
              <a:t>Gradio</a:t>
            </a:r>
          </a:p>
          <a:p>
            <a:pPr lvl="1"/>
            <a:r>
              <a:rPr/>
              <a:t>Streamlit</a:t>
            </a:r>
          </a:p>
          <a:p>
            <a:pPr lvl="1"/>
            <a:r>
              <a:rPr/>
              <a:t>FastAPI</a:t>
            </a:r>
          </a:p>
          <a:p>
            <a:pPr lvl="1"/>
            <a:r>
              <a:rPr/>
              <a:t>React or another custom frontend</a:t>
            </a:r>
          </a:p>
          <a:p>
            <a:pPr lvl="1"/>
            <a:r>
              <a:rPr/>
              <a:t>Docker</a:t>
            </a:r>
          </a:p>
          <a:p>
            <a:pPr lvl="0"/>
            <a:r>
              <a:rPr/>
              <a:t>Most of you will probably build some kind of interface.</a:t>
            </a:r>
          </a:p>
          <a:p>
            <a:pPr lvl="0"/>
            <a:r>
              <a:rPr/>
              <a:t>Gradio is a very good default if you want to move fast.</a:t>
            </a:r>
          </a:p>
          <a:p>
            <a:pPr lvl="0"/>
            <a:r>
              <a:rPr/>
              <a:t>React gives more control, but also more complexity.</a:t>
            </a:r>
          </a:p>
          <a:p>
            <a:pPr lvl="0"/>
            <a:r>
              <a:rPr/>
              <a:t>See </a:t>
            </a:r>
            <a:r>
              <a:rPr>
                <a:latin typeface="Cousine"/>
              </a:rPr>
              <a:t>04-supporting-tools.md</a:t>
            </a:r>
            <a:r>
              <a:rPr/>
              <a:t> in the repo for a short overview of these options.</a:t>
            </a:r>
          </a:p>
        </p:txBody>
      </p:sp>
      <p:pic>
        <p:nvPicPr>
          <p:cNvPr descr="media/frontend-user-interfaces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474200" y="4572000"/>
            <a:ext cx="2514600" cy="1676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ED9B2-1B96-B1B6-91DE-ED4F04AF0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/>
          <a:lstStyle/>
          <a:p>
            <a:pPr lvl="0" indent="0" marL="0">
              <a:buNone/>
            </a:pPr>
            <a:r>
              <a:rPr/>
              <a:t>Final Expectations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D1A22-93E7-53F5-3D1C-BA3AE5668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 Want to See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84A04-97C2-C83B-3F52-CA55E6768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 unique project</a:t>
            </a:r>
          </a:p>
          <a:p>
            <a:pPr lvl="0"/>
            <a:r>
              <a:rPr/>
              <a:t>a clear technical path</a:t>
            </a:r>
          </a:p>
          <a:p>
            <a:pPr lvl="0"/>
            <a:r>
              <a:rPr/>
              <a:t>one main framework stack</a:t>
            </a:r>
          </a:p>
          <a:p>
            <a:pPr lvl="0"/>
            <a:r>
              <a:rPr/>
              <a:t>visible effort</a:t>
            </a:r>
          </a:p>
          <a:p>
            <a:pPr lvl="0"/>
            <a:r>
              <a:rPr/>
              <a:t>a working demo or prototype</a:t>
            </a:r>
          </a:p>
          <a:p>
            <a:pPr lvl="0"/>
            <a:r>
              <a:rPr/>
              <a:t>understanding of the code and architecture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D1A22-93E7-53F5-3D1C-BA3AE5668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Final Message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84A04-97C2-C83B-3F52-CA55E6768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Deep learning is a very broad field.</a:t>
            </a:r>
          </a:p>
          <a:p>
            <a:pPr lvl="0"/>
            <a:r>
              <a:rPr/>
              <a:t>You do not need to master all of it in this course.</a:t>
            </a:r>
          </a:p>
          <a:p>
            <a:pPr lvl="0"/>
            <a:r>
              <a:rPr/>
              <a:t>But I want you to leave this course with:</a:t>
            </a:r>
          </a:p>
          <a:p>
            <a:pPr lvl="1"/>
            <a:r>
              <a:rPr/>
              <a:t>a better map of the field</a:t>
            </a:r>
          </a:p>
          <a:p>
            <a:pPr lvl="1"/>
            <a:r>
              <a:rPr/>
              <a:t>experience building one real AI system</a:t>
            </a:r>
          </a:p>
          <a:p>
            <a:pPr lvl="1"/>
            <a:r>
              <a:rPr/>
              <a:t>confidence that you can learn a new framework on your own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D1A22-93E7-53F5-3D1C-BA3AE5668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To Do Next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84A04-97C2-C83B-3F52-CA55E6768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choose a technical path</a:t>
            </a:r>
          </a:p>
          <a:p>
            <a:pPr lvl="0"/>
            <a:r>
              <a:rPr/>
              <a:t>choose an application domain or framework stack</a:t>
            </a:r>
          </a:p>
          <a:p>
            <a:pPr lvl="0"/>
            <a:r>
              <a:rPr/>
              <a:t>then choose the matching domain or framework stack</a:t>
            </a:r>
          </a:p>
          <a:p>
            <a:pPr lvl="0"/>
            <a:r>
              <a:rPr/>
              <a:t>read the matching domain note</a:t>
            </a:r>
          </a:p>
          <a:p>
            <a:pPr lvl="0"/>
            <a:r>
              <a:rPr/>
              <a:t>sketch a project idea</a:t>
            </a:r>
          </a:p>
          <a:p>
            <a:pPr lvl="0"/>
            <a:r>
              <a:rPr/>
              <a:t>start building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ED9B2-1B96-B1B6-91DE-ED4F04AF0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/>
          <a:lstStyle/>
          <a:p>
            <a:pPr lvl="0" indent="0" marL="0">
              <a:buNone/>
            </a:pPr>
            <a:r>
              <a:rPr/>
              <a:t>Good Luck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84A04-97C2-C83B-3F52-CA55E6768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Pick something you find genuinely interesting.</a:t>
            </a:r>
          </a:p>
          <a:p>
            <a:pPr lvl="0"/>
            <a:r>
              <a:rPr/>
              <a:t>Build something real.</a:t>
            </a:r>
          </a:p>
          <a:p>
            <a:pPr lvl="0"/>
            <a:r>
              <a:rPr/>
              <a:t>Learn your tools deeply enough to explain what you made.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</TotalTime>
  <Words>0</Words>
  <Application>Microsoft Office PowerPoint</Application>
  <PresentationFormat>Breedbeeld</PresentationFormat>
  <Paragraphs>0</Paragraphs>
  <Slides>1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 2026: Technical Paths and Application Domains</dc:title>
  <dc:creator>Alexander D’hoore</dc:creator>
  <cp:keywords/>
  <dcterms:created xsi:type="dcterms:W3CDTF">2026-04-03T10:04:55Z</dcterms:created>
  <dcterms:modified xsi:type="dcterms:W3CDTF">2026-04-03T10:04:55Z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monofont">
    <vt:lpwstr>Cousine</vt:lpwstr>
  </property>
  <property fmtid="{D5CDD505-2E9C-101B-9397-08002B2CF9AE}" pid="11" name="toc-title">
    <vt:lpwstr>Table of contents</vt:lpwstr>
  </property>
</Properties>
</file>